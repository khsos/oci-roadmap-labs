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Stateful / Stateless Rules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Stateful / Stateless Rules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Semantic group:stateful"/>
          <p:cNvSpPr/>
          <p:nvPr/>
        </p:nvSpPr>
        <p:spPr>
          <a:xfrm>
            <a:off x="594360" y="1645920"/>
            <a:ext cx="10972800" cy="1874519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:stateful"/>
          <p:cNvSpPr txBox="1"/>
          <p:nvPr/>
        </p:nvSpPr>
        <p:spPr>
          <a:xfrm>
            <a:off x="704088" y="1755648"/>
            <a:ext cx="1075334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STATEFUL rule (no overlapping stateless rule)</a:t>
            </a:r>
          </a:p>
        </p:txBody>
      </p:sp>
      <p:sp>
        <p:nvSpPr>
          <p:cNvPr id="6" name="Semantic group:stateless"/>
          <p:cNvSpPr/>
          <p:nvPr/>
        </p:nvSpPr>
        <p:spPr>
          <a:xfrm>
            <a:off x="594360" y="3703320"/>
            <a:ext cx="10972800" cy="1874519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oup label:stateless"/>
          <p:cNvSpPr txBox="1"/>
          <p:nvPr/>
        </p:nvSpPr>
        <p:spPr>
          <a:xfrm>
            <a:off x="704088" y="3813048"/>
            <a:ext cx="1075334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STATELESS rules</a:t>
            </a:r>
          </a:p>
        </p:txBody>
      </p:sp>
      <p:sp>
        <p:nvSpPr>
          <p:cNvPr id="8" name="Node anchor:client1"/>
          <p:cNvSpPr/>
          <p:nvPr/>
        </p:nvSpPr>
        <p:spPr>
          <a:xfrm>
            <a:off x="914400" y="2103120"/>
            <a:ext cx="1417320" cy="109728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server1"/>
          <p:cNvSpPr/>
          <p:nvPr/>
        </p:nvSpPr>
        <p:spPr>
          <a:xfrm>
            <a:off x="9738360" y="2103120"/>
            <a:ext cx="1417320" cy="109728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ode anchor:client2"/>
          <p:cNvSpPr/>
          <p:nvPr/>
        </p:nvSpPr>
        <p:spPr>
          <a:xfrm>
            <a:off x="914400" y="4160520"/>
            <a:ext cx="1417320" cy="109728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ode anchor:server2"/>
          <p:cNvSpPr/>
          <p:nvPr/>
        </p:nvSpPr>
        <p:spPr>
          <a:xfrm>
            <a:off x="9738360" y="4160520"/>
            <a:ext cx="1417320" cy="109728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Relationship:request1:0"/>
          <p:cNvCxnSpPr>
            <a:stCxn id="13" idx="3"/>
            <a:endCxn id="14" idx="1"/>
          </p:cNvCxnSpPr>
          <p:nvPr/>
        </p:nvCxnSpPr>
        <p:spPr>
          <a:xfrm>
            <a:off x="2332633" y="2331719"/>
            <a:ext cx="740481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equest1:source"/>
          <p:cNvSpPr/>
          <p:nvPr/>
        </p:nvSpPr>
        <p:spPr>
          <a:xfrm>
            <a:off x="2330805" y="23308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equest1:target"/>
          <p:cNvSpPr/>
          <p:nvPr/>
        </p:nvSpPr>
        <p:spPr>
          <a:xfrm>
            <a:off x="9737445" y="23308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equest1"/>
          <p:cNvSpPr txBox="1"/>
          <p:nvPr/>
        </p:nvSpPr>
        <p:spPr>
          <a:xfrm>
            <a:off x="3794760" y="1920240"/>
            <a:ext cx="45720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1 Request: ingress allow</a:t>
            </a:r>
          </a:p>
        </p:txBody>
      </p:sp>
      <p:cxnSp>
        <p:nvCxnSpPr>
          <p:cNvPr id="16" name="Relationship:return1:0"/>
          <p:cNvCxnSpPr>
            <a:stCxn id="17" idx="3"/>
            <a:endCxn id="18" idx="1"/>
          </p:cNvCxnSpPr>
          <p:nvPr/>
        </p:nvCxnSpPr>
        <p:spPr>
          <a:xfrm flipH="1">
            <a:off x="2330805" y="2926079"/>
            <a:ext cx="7408468" cy="0"/>
          </a:xfrm>
          <a:prstGeom prst="line">
            <a:avLst/>
          </a:prstGeom>
          <a:ln w="17780">
            <a:solidFill>
              <a:srgbClr val="2C5967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dge port:return1:source"/>
          <p:cNvSpPr/>
          <p:nvPr/>
        </p:nvSpPr>
        <p:spPr>
          <a:xfrm>
            <a:off x="9737445" y="292516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ge port:return1:target"/>
          <p:cNvSpPr/>
          <p:nvPr/>
        </p:nvSpPr>
        <p:spPr>
          <a:xfrm>
            <a:off x="2330805" y="292516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ge label:return1"/>
          <p:cNvSpPr txBox="1"/>
          <p:nvPr/>
        </p:nvSpPr>
        <p:spPr>
          <a:xfrm>
            <a:off x="3794760" y="3063240"/>
            <a:ext cx="45720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2 Response: connection-tracked return</a:t>
            </a:r>
          </a:p>
        </p:txBody>
      </p:sp>
      <p:cxnSp>
        <p:nvCxnSpPr>
          <p:cNvPr id="20" name="Relationship:request2:0"/>
          <p:cNvCxnSpPr>
            <a:stCxn id="21" idx="3"/>
            <a:endCxn id="22" idx="1"/>
          </p:cNvCxnSpPr>
          <p:nvPr/>
        </p:nvCxnSpPr>
        <p:spPr>
          <a:xfrm>
            <a:off x="2332633" y="4389119"/>
            <a:ext cx="740481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dge port:request2:source"/>
          <p:cNvSpPr/>
          <p:nvPr/>
        </p:nvSpPr>
        <p:spPr>
          <a:xfrm>
            <a:off x="2330805" y="43882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ge port:request2:target"/>
          <p:cNvSpPr/>
          <p:nvPr/>
        </p:nvSpPr>
        <p:spPr>
          <a:xfrm>
            <a:off x="9737445" y="43882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ge label:request2"/>
          <p:cNvSpPr txBox="1"/>
          <p:nvPr/>
        </p:nvSpPr>
        <p:spPr>
          <a:xfrm>
            <a:off x="3794760" y="3977639"/>
            <a:ext cx="45720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1 Request: explicit ingress allow</a:t>
            </a:r>
          </a:p>
        </p:txBody>
      </p:sp>
      <p:cxnSp>
        <p:nvCxnSpPr>
          <p:cNvPr id="24" name="Relationship:return2:0"/>
          <p:cNvCxnSpPr>
            <a:stCxn id="25" idx="3"/>
            <a:endCxn id="26" idx="1"/>
          </p:cNvCxnSpPr>
          <p:nvPr/>
        </p:nvCxnSpPr>
        <p:spPr>
          <a:xfrm flipH="1">
            <a:off x="2330805" y="4983479"/>
            <a:ext cx="7408468" cy="0"/>
          </a:xfrm>
          <a:prstGeom prst="line">
            <a:avLst/>
          </a:prstGeom>
          <a:ln w="17780">
            <a:solidFill>
              <a:srgbClr val="2C5967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dge port:return2:source"/>
          <p:cNvSpPr/>
          <p:nvPr/>
        </p:nvSpPr>
        <p:spPr>
          <a:xfrm>
            <a:off x="9737445" y="498256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ge port:return2:target"/>
          <p:cNvSpPr/>
          <p:nvPr/>
        </p:nvSpPr>
        <p:spPr>
          <a:xfrm>
            <a:off x="2330805" y="498256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ge label:return2"/>
          <p:cNvSpPr txBox="1"/>
          <p:nvPr/>
        </p:nvSpPr>
        <p:spPr>
          <a:xfrm>
            <a:off x="3794760" y="5120640"/>
            <a:ext cx="45720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2 Response: explicit reverse egress rule</a:t>
            </a:r>
          </a:p>
        </p:txBody>
      </p:sp>
      <p:pic>
        <p:nvPicPr>
          <p:cNvPr id="28" name="OCI icon:client1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830" y="2185415"/>
            <a:ext cx="318459" cy="566928"/>
          </a:xfrm>
          <a:prstGeom prst="rect">
            <a:avLst/>
          </a:prstGeom>
        </p:spPr>
      </p:pic>
      <p:sp>
        <p:nvSpPr>
          <p:cNvPr id="29" name="Node label:client1"/>
          <p:cNvSpPr txBox="1"/>
          <p:nvPr/>
        </p:nvSpPr>
        <p:spPr>
          <a:xfrm>
            <a:off x="914400" y="2834639"/>
            <a:ext cx="1417320" cy="365759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Client</a:t>
            </a:r>
          </a:p>
        </p:txBody>
      </p:sp>
      <p:pic>
        <p:nvPicPr>
          <p:cNvPr id="30" name="OCI icon:server1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790" y="2185415"/>
            <a:ext cx="318459" cy="566928"/>
          </a:xfrm>
          <a:prstGeom prst="rect">
            <a:avLst/>
          </a:prstGeom>
        </p:spPr>
      </p:pic>
      <p:sp>
        <p:nvSpPr>
          <p:cNvPr id="31" name="Node label:server1"/>
          <p:cNvSpPr txBox="1"/>
          <p:nvPr/>
        </p:nvSpPr>
        <p:spPr>
          <a:xfrm>
            <a:off x="9738360" y="2834639"/>
            <a:ext cx="1417320" cy="365759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Target VNIC</a:t>
            </a:r>
          </a:p>
        </p:txBody>
      </p:sp>
      <p:pic>
        <p:nvPicPr>
          <p:cNvPr id="32" name="OCI icon:client2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830" y="4242816"/>
            <a:ext cx="318459" cy="566928"/>
          </a:xfrm>
          <a:prstGeom prst="rect">
            <a:avLst/>
          </a:prstGeom>
        </p:spPr>
      </p:pic>
      <p:sp>
        <p:nvSpPr>
          <p:cNvPr id="33" name="Node label:client2"/>
          <p:cNvSpPr txBox="1"/>
          <p:nvPr/>
        </p:nvSpPr>
        <p:spPr>
          <a:xfrm>
            <a:off x="914400" y="4892040"/>
            <a:ext cx="1417320" cy="365759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Client</a:t>
            </a:r>
          </a:p>
        </p:txBody>
      </p:sp>
      <p:pic>
        <p:nvPicPr>
          <p:cNvPr id="34" name="OCI icon:server2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790" y="4242816"/>
            <a:ext cx="318459" cy="566928"/>
          </a:xfrm>
          <a:prstGeom prst="rect">
            <a:avLst/>
          </a:prstGeom>
        </p:spPr>
      </p:pic>
      <p:sp>
        <p:nvSpPr>
          <p:cNvPr id="35" name="Node label:server2"/>
          <p:cNvSpPr txBox="1"/>
          <p:nvPr/>
        </p:nvSpPr>
        <p:spPr>
          <a:xfrm>
            <a:off x="9738360" y="4892040"/>
            <a:ext cx="1417320" cy="365759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Target VNIC</a:t>
            </a:r>
          </a:p>
        </p:txBody>
      </p:sp>
      <p:sp>
        <p:nvSpPr>
          <p:cNvPr id="36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Observation point: target VNIC. Return rules must match protocol and reversed ports / CIDRs.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</p:txBody>
      </p:sp>
      <p:sp>
        <p:nvSpPr>
          <p:cNvPr id="37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Observation point: target VNIC. Return rules must match protocol and reversed ports / CIDRs.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Stateful 응답 추적; stateless 반대 규칙 명시·중복 우선순위 확인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https://docs.oracle.com/en-us/iaas/Content/Network/Concepts/securityrules.htm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