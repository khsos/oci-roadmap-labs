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CIDR Blocks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CIDR Blocks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Semantic group:vcn"/>
          <p:cNvSpPr/>
          <p:nvPr/>
        </p:nvSpPr>
        <p:spPr>
          <a:xfrm>
            <a:off x="685800" y="1691640"/>
            <a:ext cx="7772400" cy="4160520"/>
          </a:xfrm>
          <a:prstGeom prst="rect">
            <a:avLst/>
          </a:prstGeom>
          <a:solidFill>
            <a:srgbClr val="F5F4F2"/>
          </a:solidFill>
          <a:ln w="12700">
            <a:solidFill>
              <a:srgbClr val="AE5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roup label:vcn"/>
          <p:cNvSpPr txBox="1"/>
          <p:nvPr/>
        </p:nvSpPr>
        <p:spPr>
          <a:xfrm>
            <a:off x="795528" y="1801368"/>
            <a:ext cx="7552944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VCN 10.0.0.0/16</a:t>
            </a:r>
          </a:p>
        </p:txBody>
      </p:sp>
      <p:sp>
        <p:nvSpPr>
          <p:cNvPr id="6" name="Semantic group:a"/>
          <p:cNvSpPr/>
          <p:nvPr/>
        </p:nvSpPr>
        <p:spPr>
          <a:xfrm>
            <a:off x="1097280" y="2423160"/>
            <a:ext cx="3108960" cy="2743200"/>
          </a:xfrm>
          <a:prstGeom prst="rect">
            <a:avLst/>
          </a:prstGeom>
          <a:solidFill>
            <a:srgbClr val="F5F4F2"/>
          </a:solidFill>
          <a:ln w="12700">
            <a:solidFill>
              <a:srgbClr val="AE5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oup label:a"/>
          <p:cNvSpPr txBox="1"/>
          <p:nvPr/>
        </p:nvSpPr>
        <p:spPr>
          <a:xfrm>
            <a:off x="1207007" y="2532888"/>
            <a:ext cx="2889504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Subnet A 10.0.1.0/24</a:t>
            </a:r>
          </a:p>
        </p:txBody>
      </p:sp>
      <p:sp>
        <p:nvSpPr>
          <p:cNvPr id="8" name="Semantic group:b"/>
          <p:cNvSpPr/>
          <p:nvPr/>
        </p:nvSpPr>
        <p:spPr>
          <a:xfrm>
            <a:off x="4663440" y="2423160"/>
            <a:ext cx="3108960" cy="2743200"/>
          </a:xfrm>
          <a:prstGeom prst="rect">
            <a:avLst/>
          </a:prstGeom>
          <a:solidFill>
            <a:srgbClr val="F5F4F2"/>
          </a:solidFill>
          <a:ln w="12700">
            <a:solidFill>
              <a:srgbClr val="AE5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oup label:b"/>
          <p:cNvSpPr txBox="1"/>
          <p:nvPr/>
        </p:nvSpPr>
        <p:spPr>
          <a:xfrm>
            <a:off x="4773168" y="2532888"/>
            <a:ext cx="2889504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Subnet B 10.0.2.0/24</a:t>
            </a:r>
          </a:p>
        </p:txBody>
      </p:sp>
      <p:sp>
        <p:nvSpPr>
          <p:cNvPr id="10" name="Node anchor:vcn-icon"/>
          <p:cNvSpPr/>
          <p:nvPr/>
        </p:nvSpPr>
        <p:spPr>
          <a:xfrm>
            <a:off x="8869680" y="1874519"/>
            <a:ext cx="25603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ode anchor:peer"/>
          <p:cNvSpPr/>
          <p:nvPr/>
        </p:nvSpPr>
        <p:spPr>
          <a:xfrm>
            <a:off x="8869680" y="3977639"/>
            <a:ext cx="2560320" cy="164592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Relationship:symbol:0"/>
          <p:cNvCxnSpPr>
            <a:stCxn id="13" idx="3"/>
            <a:endCxn id="14" idx="1"/>
          </p:cNvCxnSpPr>
          <p:nvPr/>
        </p:nvCxnSpPr>
        <p:spPr>
          <a:xfrm>
            <a:off x="8459113" y="2468879"/>
            <a:ext cx="409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symbol:source"/>
          <p:cNvSpPr/>
          <p:nvPr/>
        </p:nvSpPr>
        <p:spPr>
          <a:xfrm>
            <a:off x="8457285" y="246796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port:symbol:target"/>
          <p:cNvSpPr/>
          <p:nvPr/>
        </p:nvSpPr>
        <p:spPr>
          <a:xfrm>
            <a:off x="8868765" y="246796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label:symbol"/>
          <p:cNvSpPr txBox="1"/>
          <p:nvPr/>
        </p:nvSpPr>
        <p:spPr>
          <a:xfrm>
            <a:off x="8503920" y="3246120"/>
            <a:ext cx="29260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address-plan view</a:t>
            </a:r>
          </a:p>
        </p:txBody>
      </p:sp>
      <p:cxnSp>
        <p:nvCxnSpPr>
          <p:cNvPr id="16" name="Relationship:nonoverlap:0"/>
          <p:cNvCxnSpPr>
            <a:stCxn id="17" idx="3"/>
            <a:endCxn id="18" idx="1"/>
          </p:cNvCxnSpPr>
          <p:nvPr/>
        </p:nvCxnSpPr>
        <p:spPr>
          <a:xfrm>
            <a:off x="8459113" y="4663439"/>
            <a:ext cx="409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dge port:nonoverlap:source"/>
          <p:cNvSpPr/>
          <p:nvPr/>
        </p:nvSpPr>
        <p:spPr>
          <a:xfrm>
            <a:off x="8457285" y="4662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ge port:nonoverlap:target"/>
          <p:cNvSpPr/>
          <p:nvPr/>
        </p:nvSpPr>
        <p:spPr>
          <a:xfrm>
            <a:off x="8868765" y="4662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ge label:nonoverlap"/>
          <p:cNvSpPr txBox="1"/>
          <p:nvPr/>
        </p:nvSpPr>
        <p:spPr>
          <a:xfrm>
            <a:off x="8503920" y="5394960"/>
            <a:ext cx="29260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compare: no overlap</a:t>
            </a:r>
          </a:p>
        </p:txBody>
      </p:sp>
      <p:pic>
        <p:nvPicPr>
          <p:cNvPr id="20" name="OCI icon:vcn-icon" descr="virtual-cloud-network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0610" y="1956815"/>
            <a:ext cx="318459" cy="566928"/>
          </a:xfrm>
          <a:prstGeom prst="rect">
            <a:avLst/>
          </a:prstGeom>
        </p:spPr>
      </p:pic>
      <p:sp>
        <p:nvSpPr>
          <p:cNvPr id="21" name="Node label:vcn-icon"/>
          <p:cNvSpPr txBox="1"/>
          <p:nvPr/>
        </p:nvSpPr>
        <p:spPr>
          <a:xfrm>
            <a:off x="8869680" y="2606039"/>
            <a:ext cx="25603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VCN address plan</a:t>
            </a:r>
          </a:p>
        </p:txBody>
      </p:sp>
      <p:sp>
        <p:nvSpPr>
          <p:cNvPr id="22" name="Non-service concept:peer"/>
          <p:cNvSpPr txBox="1"/>
          <p:nvPr/>
        </p:nvSpPr>
        <p:spPr>
          <a:xfrm>
            <a:off x="8869680" y="4087368"/>
            <a:ext cx="2560320" cy="153619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Peer CIDR</a:t>
            </a:r>
          </a:p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10.1.0.0/16</a:t>
            </a:r>
          </a:p>
        </p:txBody>
      </p:sp>
      <p:sp>
        <p:nvSpPr>
          <p:cNvPr id="23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CIDR containment and non-overlap.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24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CIDR containment and non-overlap.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Arbitrary illustrative private CIDRs; no peering is configured.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Subnet은 VCN 범위 내 상호 비중첩; 피어 대역도 대조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https://docs.oracle.com/en-us/iaas/Content/Network/Concepts/overview.htm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