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acle cover logo" descr="orac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13577"/>
            <a:ext cx="1280160" cy="270125"/>
          </a:xfrm>
          <a:prstGeom prst="rect">
            <a:avLst/>
          </a:prstGeom>
        </p:spPr>
      </p:pic>
      <p:sp>
        <p:nvSpPr>
          <p:cNvPr id="3" name="Cover title"/>
          <p:cNvSpPr txBox="1"/>
          <p:nvPr/>
        </p:nvSpPr>
        <p:spPr>
          <a:xfrm>
            <a:off x="731520" y="2011680"/>
            <a:ext cx="10789920" cy="1371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3200" b="1">
                <a:solidFill>
                  <a:srgbClr val="312D2A"/>
                </a:solidFill>
                <a:latin typeface="Malgun Gothic"/>
              </a:defRPr>
            </a:pPr>
            <a:r>
              <a:t>Infrequent Access</a:t>
            </a:r>
          </a:p>
        </p:txBody>
      </p:sp>
      <p:sp>
        <p:nvSpPr>
          <p:cNvPr id="4" name="Cover subtitle"/>
          <p:cNvSpPr txBox="1"/>
          <p:nvPr/>
        </p:nvSpPr>
        <p:spPr>
          <a:xfrm>
            <a:off x="731520" y="3749039"/>
            <a:ext cx="1078992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Malgun Gothic"/>
              </a:defRPr>
            </a:pPr>
            <a:r>
              <a:t>Illustrative OCI learning diagram | No cloud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gram title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Infrequent Access</a:t>
            </a:r>
          </a:p>
        </p:txBody>
      </p:sp>
      <p:sp>
        <p:nvSpPr>
          <p:cNvPr id="3" name="Diagram classification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AE562C"/>
                </a:solidFill>
                <a:latin typeface="Malgun Gothic"/>
              </a:defRPr>
            </a:pPr>
            <a:r>
              <a:t>ILLUSTRATIVE LEARNING MODEL | NOT AN AS-BUILT DEPLOYMENT</a:t>
            </a:r>
          </a:p>
        </p:txBody>
      </p:sp>
      <p:sp>
        <p:nvSpPr>
          <p:cNvPr id="4" name="Node anchor:lane0-source"/>
          <p:cNvSpPr/>
          <p:nvPr/>
        </p:nvSpPr>
        <p:spPr>
          <a:xfrm>
            <a:off x="9144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ode anchor:lane0-target"/>
          <p:cNvSpPr/>
          <p:nvPr/>
        </p:nvSpPr>
        <p:spPr>
          <a:xfrm>
            <a:off x="91440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ode anchor:lane1-source"/>
          <p:cNvSpPr/>
          <p:nvPr/>
        </p:nvSpPr>
        <p:spPr>
          <a:xfrm>
            <a:off x="9144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ode anchor:lane1-target"/>
          <p:cNvSpPr/>
          <p:nvPr/>
        </p:nvSpPr>
        <p:spPr>
          <a:xfrm>
            <a:off x="91440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Relationship:r0:0"/>
          <p:cNvCxnSpPr>
            <a:stCxn id="9" idx="3"/>
            <a:endCxn id="10" idx="1"/>
          </p:cNvCxnSpPr>
          <p:nvPr/>
        </p:nvCxnSpPr>
        <p:spPr>
          <a:xfrm>
            <a:off x="3018433" y="23774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dge port:r0:source"/>
          <p:cNvSpPr/>
          <p:nvPr/>
        </p:nvSpPr>
        <p:spPr>
          <a:xfrm>
            <a:off x="301660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ge port:r0:target"/>
          <p:cNvSpPr/>
          <p:nvPr/>
        </p:nvSpPr>
        <p:spPr>
          <a:xfrm>
            <a:off x="914308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ge label:r0"/>
          <p:cNvSpPr txBox="1"/>
          <p:nvPr/>
        </p:nvSpPr>
        <p:spPr>
          <a:xfrm>
            <a:off x="3337560" y="18013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immediate read; retrieval charge</a:t>
            </a:r>
          </a:p>
        </p:txBody>
      </p:sp>
      <p:cxnSp>
        <p:nvCxnSpPr>
          <p:cNvPr id="12" name="Relationship:r1:0"/>
          <p:cNvCxnSpPr>
            <a:stCxn id="13" idx="3"/>
            <a:endCxn id="14" idx="1"/>
          </p:cNvCxnSpPr>
          <p:nvPr/>
        </p:nvCxnSpPr>
        <p:spPr>
          <a:xfrm>
            <a:off x="3018433" y="37490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dge port:r1:source"/>
          <p:cNvSpPr/>
          <p:nvPr/>
        </p:nvSpPr>
        <p:spPr>
          <a:xfrm>
            <a:off x="301660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ge port:r1:target"/>
          <p:cNvSpPr/>
          <p:nvPr/>
        </p:nvSpPr>
        <p:spPr>
          <a:xfrm>
            <a:off x="914308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ge label:r1"/>
          <p:cNvSpPr txBox="1"/>
          <p:nvPr/>
        </p:nvSpPr>
        <p:spPr>
          <a:xfrm>
            <a:off x="3337560" y="31729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compare retention and cost</a:t>
            </a:r>
          </a:p>
        </p:txBody>
      </p:sp>
      <p:pic>
        <p:nvPicPr>
          <p:cNvPr id="16" name="OCI icon:lane0-source" descr="object-storage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730" y="1865376"/>
            <a:ext cx="318459" cy="566928"/>
          </a:xfrm>
          <a:prstGeom prst="rect">
            <a:avLst/>
          </a:prstGeom>
        </p:spPr>
      </p:pic>
      <p:sp>
        <p:nvSpPr>
          <p:cNvPr id="17" name="Node label:lane0-source"/>
          <p:cNvSpPr txBox="1"/>
          <p:nvPr/>
        </p:nvSpPr>
        <p:spPr>
          <a:xfrm>
            <a:off x="9144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Infrequent Access</a:t>
            </a:r>
          </a:p>
        </p:txBody>
      </p:sp>
      <p:sp>
        <p:nvSpPr>
          <p:cNvPr id="18" name="Non-service concept:lane0-target"/>
          <p:cNvSpPr txBox="1"/>
          <p:nvPr/>
        </p:nvSpPr>
        <p:spPr>
          <a:xfrm>
            <a:off x="9144000" y="1892807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Read and retrieve</a:t>
            </a:r>
          </a:p>
        </p:txBody>
      </p:sp>
      <p:sp>
        <p:nvSpPr>
          <p:cNvPr id="19" name="Non-service concept:lane1-source"/>
          <p:cNvSpPr txBox="1"/>
          <p:nvPr/>
        </p:nvSpPr>
        <p:spPr>
          <a:xfrm>
            <a:off x="914400" y="3264408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Read and retrieve</a:t>
            </a:r>
          </a:p>
        </p:txBody>
      </p:sp>
      <p:pic>
        <p:nvPicPr>
          <p:cNvPr id="20" name="OCI icon:lane1-target" descr="object-storage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6330" y="3236976"/>
            <a:ext cx="318459" cy="566928"/>
          </a:xfrm>
          <a:prstGeom prst="rect">
            <a:avLst/>
          </a:prstGeom>
        </p:spPr>
      </p:pic>
      <p:sp>
        <p:nvSpPr>
          <p:cNvPr id="21" name="Node label:lane1-target"/>
          <p:cNvSpPr txBox="1"/>
          <p:nvPr/>
        </p:nvSpPr>
        <p:spPr>
          <a:xfrm>
            <a:off x="91440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Standard comparison</a:t>
            </a:r>
          </a:p>
        </p:txBody>
      </p:sp>
      <p:sp>
        <p:nvSpPr>
          <p:cNvPr id="22" name="Model caveat"/>
          <p:cNvSpPr txBox="1"/>
          <p:nvPr/>
        </p:nvSpPr>
        <p:spPr>
          <a:xfrm>
            <a:off x="640080" y="6016752"/>
            <a:ext cx="1088136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Immediate access; retrieval-charge comparison. Management / concept arrows unless explicitly marked traffic.</a:t>
            </a:r>
          </a:p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</p:txBody>
      </p:sp>
      <p:sp>
        <p:nvSpPr>
          <p:cNvPr id="23" name="Diagram footer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000" b="0">
                <a:solidFill>
                  <a:srgbClr val="C74634"/>
                </a:solidFill>
                <a:latin typeface="Malgun Gothic"/>
              </a:defRPr>
            </a:pPr>
            <a:r>
              <a:t>AI-assisted illustrative model; verify official docs. No OCI resources created.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Assumptions / scope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Immediate access; retrieval-charge comparison. Management / concept arrows unless explicitly marked traffic.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Storage-tier icons use the Object Storage family, not distinct service symbols.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Repeated labels denote the same role in separate relationship views, not extra resources.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Service-family icon meanings and exact official toolkit titles are disclosed in the model JSON.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IA 즉시 접근·검색 비용·보관 조건; Archive 복원과 구분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실제 OCI 실행·배포 검증은 수행하지 않았다.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이 논리 관계도는 Subnet 배치나 네트워크 route를 증명하지 않는다.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Validation checkpoints / sources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Confirm service-specific semantics; no cloud provisioning.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Verify native PowerPoint, hierarchy, endpoint attachment and icon provenance.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https://docs.oracle.com/en-us/iaas/Content/Object/Concepts/understandingstoragetiers.htm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