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Fault Domains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Fault Domains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Semantic group:region"/>
          <p:cNvSpPr/>
          <p:nvPr/>
        </p:nvSpPr>
        <p:spPr>
          <a:xfrm>
            <a:off x="640080" y="1508760"/>
            <a:ext cx="10881360" cy="4389120"/>
          </a:xfrm>
          <a:prstGeom prst="rect">
            <a:avLst/>
          </a:prstGeom>
          <a:solidFill>
            <a:srgbClr val="F5F4F2"/>
          </a:solidFill>
          <a:ln w="12700">
            <a:solidFill>
              <a:srgbClr val="9E9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Group label:region"/>
          <p:cNvSpPr txBox="1"/>
          <p:nvPr/>
        </p:nvSpPr>
        <p:spPr>
          <a:xfrm>
            <a:off x="749808" y="1618488"/>
            <a:ext cx="10661904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300" b="1">
                <a:solidFill>
                  <a:srgbClr val="312D2A"/>
                </a:solidFill>
                <a:latin typeface="Malgun Gothic"/>
              </a:defRPr>
            </a:pPr>
            <a:r>
              <a:t>OCI Region (illustrative)</a:t>
            </a:r>
          </a:p>
        </p:txBody>
      </p:sp>
      <p:sp>
        <p:nvSpPr>
          <p:cNvPr id="6" name="Semantic group:ad"/>
          <p:cNvSpPr/>
          <p:nvPr/>
        </p:nvSpPr>
        <p:spPr>
          <a:xfrm>
            <a:off x="914400" y="2057400"/>
            <a:ext cx="10332720" cy="3566160"/>
          </a:xfrm>
          <a:prstGeom prst="rect">
            <a:avLst/>
          </a:prstGeom>
          <a:solidFill>
            <a:srgbClr val="F5F4F2"/>
          </a:solidFill>
          <a:ln w="12700">
            <a:solidFill>
              <a:srgbClr val="9E9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Group label:ad"/>
          <p:cNvSpPr txBox="1"/>
          <p:nvPr/>
        </p:nvSpPr>
        <p:spPr>
          <a:xfrm>
            <a:off x="1024128" y="2167128"/>
            <a:ext cx="10113264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300" b="1">
                <a:solidFill>
                  <a:srgbClr val="312D2A"/>
                </a:solidFill>
                <a:latin typeface="Malgun Gothic"/>
              </a:defRPr>
            </a:pPr>
            <a:r>
              <a:t>Availability Domain</a:t>
            </a:r>
          </a:p>
        </p:txBody>
      </p:sp>
      <p:sp>
        <p:nvSpPr>
          <p:cNvPr id="8" name="Semantic group:fd1"/>
          <p:cNvSpPr/>
          <p:nvPr/>
        </p:nvSpPr>
        <p:spPr>
          <a:xfrm>
            <a:off x="1280160" y="2743200"/>
            <a:ext cx="2834640" cy="2377440"/>
          </a:xfrm>
          <a:prstGeom prst="rect">
            <a:avLst/>
          </a:prstGeom>
          <a:solidFill>
            <a:srgbClr val="F5F4F2"/>
          </a:solidFill>
          <a:ln w="12700">
            <a:solidFill>
              <a:srgbClr val="9E9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Group label:fd1"/>
          <p:cNvSpPr txBox="1"/>
          <p:nvPr/>
        </p:nvSpPr>
        <p:spPr>
          <a:xfrm>
            <a:off x="1389888" y="2852928"/>
            <a:ext cx="2615184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300" b="1">
                <a:solidFill>
                  <a:srgbClr val="312D2A"/>
                </a:solidFill>
                <a:latin typeface="Malgun Gothic"/>
              </a:defRPr>
            </a:pPr>
            <a:r>
              <a:t>Fault Domain 1</a:t>
            </a:r>
          </a:p>
        </p:txBody>
      </p:sp>
      <p:sp>
        <p:nvSpPr>
          <p:cNvPr id="10" name="Semantic group:fd2"/>
          <p:cNvSpPr/>
          <p:nvPr/>
        </p:nvSpPr>
        <p:spPr>
          <a:xfrm>
            <a:off x="4663440" y="2743200"/>
            <a:ext cx="2834640" cy="2377440"/>
          </a:xfrm>
          <a:prstGeom prst="rect">
            <a:avLst/>
          </a:prstGeom>
          <a:solidFill>
            <a:srgbClr val="F5F4F2"/>
          </a:solidFill>
          <a:ln w="12700">
            <a:solidFill>
              <a:srgbClr val="9E9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Group label:fd2"/>
          <p:cNvSpPr txBox="1"/>
          <p:nvPr/>
        </p:nvSpPr>
        <p:spPr>
          <a:xfrm>
            <a:off x="4773168" y="2852928"/>
            <a:ext cx="2615184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300" b="1">
                <a:solidFill>
                  <a:srgbClr val="312D2A"/>
                </a:solidFill>
                <a:latin typeface="Malgun Gothic"/>
              </a:defRPr>
            </a:pPr>
            <a:r>
              <a:t>Fault Domain 2</a:t>
            </a:r>
          </a:p>
        </p:txBody>
      </p:sp>
      <p:sp>
        <p:nvSpPr>
          <p:cNvPr id="12" name="Semantic group:fd3"/>
          <p:cNvSpPr/>
          <p:nvPr/>
        </p:nvSpPr>
        <p:spPr>
          <a:xfrm>
            <a:off x="8046720" y="2743200"/>
            <a:ext cx="2834640" cy="2377440"/>
          </a:xfrm>
          <a:prstGeom prst="rect">
            <a:avLst/>
          </a:prstGeom>
          <a:solidFill>
            <a:srgbClr val="F5F4F2"/>
          </a:solidFill>
          <a:ln w="12700">
            <a:solidFill>
              <a:srgbClr val="9E9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Group label:fd3"/>
          <p:cNvSpPr txBox="1"/>
          <p:nvPr/>
        </p:nvSpPr>
        <p:spPr>
          <a:xfrm>
            <a:off x="8156448" y="2852928"/>
            <a:ext cx="2615184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300" b="1">
                <a:solidFill>
                  <a:srgbClr val="312D2A"/>
                </a:solidFill>
                <a:latin typeface="Malgun Gothic"/>
              </a:defRPr>
            </a:pPr>
            <a:r>
              <a:t>Fault Domain 3</a:t>
            </a:r>
          </a:p>
        </p:txBody>
      </p:sp>
      <p:sp>
        <p:nvSpPr>
          <p:cNvPr id="14" name="Node anchor:a"/>
          <p:cNvSpPr/>
          <p:nvPr/>
        </p:nvSpPr>
        <p:spPr>
          <a:xfrm>
            <a:off x="1874519" y="3520440"/>
            <a:ext cx="16459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ode anchor:b"/>
          <p:cNvSpPr/>
          <p:nvPr/>
        </p:nvSpPr>
        <p:spPr>
          <a:xfrm>
            <a:off x="5257800" y="3520440"/>
            <a:ext cx="16459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ode anchor:c"/>
          <p:cNvSpPr/>
          <p:nvPr/>
        </p:nvSpPr>
        <p:spPr>
          <a:xfrm>
            <a:off x="8641080" y="3520440"/>
            <a:ext cx="16459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OCI icon:a" descr="comput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8250" y="3602736"/>
            <a:ext cx="318459" cy="566928"/>
          </a:xfrm>
          <a:prstGeom prst="rect">
            <a:avLst/>
          </a:prstGeom>
        </p:spPr>
      </p:pic>
      <p:sp>
        <p:nvSpPr>
          <p:cNvPr id="18" name="Node label:a"/>
          <p:cNvSpPr txBox="1"/>
          <p:nvPr/>
        </p:nvSpPr>
        <p:spPr>
          <a:xfrm>
            <a:off x="1874519" y="4251960"/>
            <a:ext cx="16459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Compute A</a:t>
            </a:r>
          </a:p>
        </p:txBody>
      </p:sp>
      <p:pic>
        <p:nvPicPr>
          <p:cNvPr id="19" name="OCI icon:b" descr="comput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1530" y="3602736"/>
            <a:ext cx="318459" cy="566928"/>
          </a:xfrm>
          <a:prstGeom prst="rect">
            <a:avLst/>
          </a:prstGeom>
        </p:spPr>
      </p:pic>
      <p:sp>
        <p:nvSpPr>
          <p:cNvPr id="20" name="Node label:b"/>
          <p:cNvSpPr txBox="1"/>
          <p:nvPr/>
        </p:nvSpPr>
        <p:spPr>
          <a:xfrm>
            <a:off x="5257800" y="4251960"/>
            <a:ext cx="16459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Compute B</a:t>
            </a:r>
          </a:p>
        </p:txBody>
      </p:sp>
      <p:pic>
        <p:nvPicPr>
          <p:cNvPr id="21" name="OCI icon:c" descr="comput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4810" y="3602736"/>
            <a:ext cx="318459" cy="566928"/>
          </a:xfrm>
          <a:prstGeom prst="rect">
            <a:avLst/>
          </a:prstGeom>
        </p:spPr>
      </p:pic>
      <p:sp>
        <p:nvSpPr>
          <p:cNvPr id="22" name="Node label:c"/>
          <p:cNvSpPr txBox="1"/>
          <p:nvPr/>
        </p:nvSpPr>
        <p:spPr>
          <a:xfrm>
            <a:off x="8641080" y="4251960"/>
            <a:ext cx="16459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Compute C</a:t>
            </a:r>
          </a:p>
        </p:txBody>
      </p:sp>
      <p:sp>
        <p:nvSpPr>
          <p:cNvPr id="23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Independent failure domains within one AD; placement alone does not implement failover.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</p:txBody>
      </p:sp>
      <p:sp>
        <p:nvSpPr>
          <p:cNvPr id="24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Independent failure domains within one AD; placement alone does not implement failover.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동일 AD의 독립 FD; 필수 통신 체인·자동 HA 아님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https://docs.oracle.com/en-us/iaas/Content/General/Concepts/regions.htm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