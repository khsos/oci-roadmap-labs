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Virtual Cloud Network (VCN)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Virtual Cloud Network (VCN)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594360" y="1508760"/>
            <a:ext cx="10972800" cy="443484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704088" y="1618488"/>
            <a:ext cx="107533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</a:t>
            </a:r>
          </a:p>
        </p:txBody>
      </p:sp>
      <p:sp>
        <p:nvSpPr>
          <p:cNvPr id="6" name="Semantic group:vcn"/>
          <p:cNvSpPr/>
          <p:nvPr/>
        </p:nvSpPr>
        <p:spPr>
          <a:xfrm>
            <a:off x="914400" y="2057400"/>
            <a:ext cx="10332720" cy="361188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vcn"/>
          <p:cNvSpPr txBox="1"/>
          <p:nvPr/>
        </p:nvSpPr>
        <p:spPr>
          <a:xfrm>
            <a:off x="1024128" y="2167128"/>
            <a:ext cx="1011326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Regional VCN 10.0.0.0/16</a:t>
            </a:r>
          </a:p>
        </p:txBody>
      </p:sp>
      <p:sp>
        <p:nvSpPr>
          <p:cNvPr id="8" name="Semantic group:subnet"/>
          <p:cNvSpPr/>
          <p:nvPr/>
        </p:nvSpPr>
        <p:spPr>
          <a:xfrm>
            <a:off x="1280160" y="2788920"/>
            <a:ext cx="3657600" cy="251460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subnet"/>
          <p:cNvSpPr txBox="1"/>
          <p:nvPr/>
        </p:nvSpPr>
        <p:spPr>
          <a:xfrm>
            <a:off x="1389888" y="2898648"/>
            <a:ext cx="34381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Regional Private Subnet 10.0.1.0/24</a:t>
            </a:r>
          </a:p>
        </p:txBody>
      </p:sp>
      <p:sp>
        <p:nvSpPr>
          <p:cNvPr id="10" name="Node anchor:vm"/>
          <p:cNvSpPr/>
          <p:nvPr/>
        </p:nvSpPr>
        <p:spPr>
          <a:xfrm>
            <a:off x="2286000" y="3566160"/>
            <a:ext cx="16459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rt"/>
          <p:cNvSpPr/>
          <p:nvPr/>
        </p:nvSpPr>
        <p:spPr>
          <a:xfrm>
            <a:off x="6126480" y="3154680"/>
            <a:ext cx="16459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 anchor:sl"/>
          <p:cNvSpPr/>
          <p:nvPr/>
        </p:nvSpPr>
        <p:spPr>
          <a:xfrm>
            <a:off x="9144000" y="3154680"/>
            <a:ext cx="16459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Relationship:route:0"/>
          <p:cNvCxnSpPr>
            <a:stCxn id="14" idx="3"/>
            <a:endCxn id="15" idx="1"/>
          </p:cNvCxnSpPr>
          <p:nvPr/>
        </p:nvCxnSpPr>
        <p:spPr>
          <a:xfrm>
            <a:off x="4938673" y="3657599"/>
            <a:ext cx="118689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ge port:route:source"/>
          <p:cNvSpPr/>
          <p:nvPr/>
        </p:nvSpPr>
        <p:spPr>
          <a:xfrm>
            <a:off x="493684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port:route:target"/>
          <p:cNvSpPr/>
          <p:nvPr/>
        </p:nvSpPr>
        <p:spPr>
          <a:xfrm>
            <a:off x="612556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label:route"/>
          <p:cNvSpPr txBox="1"/>
          <p:nvPr/>
        </p:nvSpPr>
        <p:spPr>
          <a:xfrm>
            <a:off x="4983480" y="2788920"/>
            <a:ext cx="114300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route table</a:t>
            </a:r>
          </a:p>
        </p:txBody>
      </p:sp>
      <p:cxnSp>
        <p:nvCxnSpPr>
          <p:cNvPr id="17" name="Relationship:security:0"/>
          <p:cNvCxnSpPr>
            <a:stCxn id="18" idx="3"/>
          </p:cNvCxnSpPr>
          <p:nvPr/>
        </p:nvCxnSpPr>
        <p:spPr>
          <a:xfrm>
            <a:off x="4938673" y="4983479"/>
            <a:ext cx="5028287" cy="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ge port:security:source"/>
          <p:cNvSpPr/>
          <p:nvPr/>
        </p:nvSpPr>
        <p:spPr>
          <a:xfrm>
            <a:off x="4936845" y="49825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Relationship:security:1"/>
          <p:cNvCxnSpPr>
            <a:endCxn id="20" idx="1"/>
          </p:cNvCxnSpPr>
          <p:nvPr/>
        </p:nvCxnSpPr>
        <p:spPr>
          <a:xfrm flipV="1" flipH="1">
            <a:off x="9966045" y="4389119"/>
            <a:ext cx="915" cy="594361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 port:security:target"/>
          <p:cNvSpPr/>
          <p:nvPr/>
        </p:nvSpPr>
        <p:spPr>
          <a:xfrm>
            <a:off x="9966045" y="43882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security"/>
          <p:cNvSpPr txBox="1"/>
          <p:nvPr/>
        </p:nvSpPr>
        <p:spPr>
          <a:xfrm>
            <a:off x="6583680" y="5074920"/>
            <a:ext cx="256032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security list</a:t>
            </a:r>
          </a:p>
        </p:txBody>
      </p:sp>
      <p:pic>
        <p:nvPicPr>
          <p:cNvPr id="22" name="OCI icon:vm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30" y="3648456"/>
            <a:ext cx="318459" cy="566928"/>
          </a:xfrm>
          <a:prstGeom prst="rect">
            <a:avLst/>
          </a:prstGeom>
        </p:spPr>
      </p:pic>
      <p:sp>
        <p:nvSpPr>
          <p:cNvPr id="23" name="Node label:vm"/>
          <p:cNvSpPr txBox="1"/>
          <p:nvPr/>
        </p:nvSpPr>
        <p:spPr>
          <a:xfrm>
            <a:off x="2286000" y="4297680"/>
            <a:ext cx="16459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/ VNIC</a:t>
            </a:r>
          </a:p>
        </p:txBody>
      </p:sp>
      <p:pic>
        <p:nvPicPr>
          <p:cNvPr id="24" name="OCI icon:rt" descr="route-tabl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210" y="3236976"/>
            <a:ext cx="318459" cy="566928"/>
          </a:xfrm>
          <a:prstGeom prst="rect">
            <a:avLst/>
          </a:prstGeom>
        </p:spPr>
      </p:pic>
      <p:sp>
        <p:nvSpPr>
          <p:cNvPr id="25" name="Node label:rt"/>
          <p:cNvSpPr txBox="1"/>
          <p:nvPr/>
        </p:nvSpPr>
        <p:spPr>
          <a:xfrm>
            <a:off x="6126480" y="3886200"/>
            <a:ext cx="16459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Route Table</a:t>
            </a:r>
          </a:p>
        </p:txBody>
      </p:sp>
      <p:pic>
        <p:nvPicPr>
          <p:cNvPr id="26" name="OCI icon:sl" descr="security-list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730" y="3236976"/>
            <a:ext cx="318459" cy="566928"/>
          </a:xfrm>
          <a:prstGeom prst="rect">
            <a:avLst/>
          </a:prstGeom>
        </p:spPr>
      </p:pic>
      <p:sp>
        <p:nvSpPr>
          <p:cNvPr id="27" name="Node label:sl"/>
          <p:cNvSpPr txBox="1"/>
          <p:nvPr/>
        </p:nvSpPr>
        <p:spPr>
          <a:xfrm>
            <a:off x="9144000" y="3886200"/>
            <a:ext cx="16459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Security List</a:t>
            </a:r>
          </a:p>
        </p:txBody>
      </p:sp>
      <p:sp>
        <p:nvSpPr>
          <p:cNvPr id="28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VCN and regional subnet span ADs. Routes select next hops; security rules separately permit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</p:txBody>
      </p:sp>
      <p:sp>
        <p:nvSpPr>
          <p:cNvPr id="29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VCN and regional subnet span ADs. Routes select next hops; security rules separately permit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VCN·Subnet·경로·보안 연계 설계; 실제 생성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