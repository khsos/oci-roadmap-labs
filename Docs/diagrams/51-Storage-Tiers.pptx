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Storage Tiers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Storage Tiers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n0"/>
          <p:cNvSpPr/>
          <p:nvPr/>
        </p:nvSpPr>
        <p:spPr>
          <a:xfrm>
            <a:off x="777240" y="2148840"/>
            <a:ext cx="2011680" cy="16002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n1"/>
          <p:cNvSpPr/>
          <p:nvPr/>
        </p:nvSpPr>
        <p:spPr>
          <a:xfrm>
            <a:off x="3639312" y="2148840"/>
            <a:ext cx="2011680" cy="16002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n2"/>
          <p:cNvSpPr/>
          <p:nvPr/>
        </p:nvSpPr>
        <p:spPr>
          <a:xfrm>
            <a:off x="6501383" y="2148840"/>
            <a:ext cx="2011680" cy="16002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decision"/>
          <p:cNvSpPr/>
          <p:nvPr/>
        </p:nvSpPr>
        <p:spPr>
          <a:xfrm>
            <a:off x="3200400" y="4846320"/>
            <a:ext cx="5760720" cy="73152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dimension0:0"/>
          <p:cNvCxnSpPr>
            <a:stCxn id="9" idx="3"/>
          </p:cNvCxnSpPr>
          <p:nvPr/>
        </p:nvCxnSpPr>
        <p:spPr>
          <a:xfrm flipH="1">
            <a:off x="1783080" y="3749039"/>
            <a:ext cx="913" cy="5486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dimension0:source"/>
          <p:cNvSpPr/>
          <p:nvPr/>
        </p:nvSpPr>
        <p:spPr>
          <a:xfrm>
            <a:off x="178216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dimension0:1"/>
          <p:cNvCxnSpPr/>
          <p:nvPr/>
        </p:nvCxnSpPr>
        <p:spPr>
          <a:xfrm>
            <a:off x="1783080" y="4297680"/>
            <a:ext cx="4297680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lationship:dimension0:2"/>
          <p:cNvCxnSpPr>
            <a:endCxn id="12" idx="1"/>
          </p:cNvCxnSpPr>
          <p:nvPr/>
        </p:nvCxnSpPr>
        <p:spPr>
          <a:xfrm flipH="1">
            <a:off x="6079845" y="4297680"/>
            <a:ext cx="915" cy="5486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dge port:dimension0:target"/>
          <p:cNvSpPr/>
          <p:nvPr/>
        </p:nvSpPr>
        <p:spPr>
          <a:xfrm>
            <a:off x="6079845" y="48454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Relationship:dimension1:0"/>
          <p:cNvCxnSpPr>
            <a:stCxn id="14" idx="3"/>
          </p:cNvCxnSpPr>
          <p:nvPr/>
        </p:nvCxnSpPr>
        <p:spPr>
          <a:xfrm flipH="1">
            <a:off x="4645152" y="3749039"/>
            <a:ext cx="913" cy="5486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dge port:dimension1:source"/>
          <p:cNvSpPr/>
          <p:nvPr/>
        </p:nvSpPr>
        <p:spPr>
          <a:xfrm>
            <a:off x="4644237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Relationship:dimension1:1"/>
          <p:cNvCxnSpPr/>
          <p:nvPr/>
        </p:nvCxnSpPr>
        <p:spPr>
          <a:xfrm>
            <a:off x="4645152" y="4297680"/>
            <a:ext cx="1435608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elationship:dimension1:2"/>
          <p:cNvCxnSpPr>
            <a:endCxn id="17" idx="1"/>
          </p:cNvCxnSpPr>
          <p:nvPr/>
        </p:nvCxnSpPr>
        <p:spPr>
          <a:xfrm flipH="1">
            <a:off x="6079845" y="4297680"/>
            <a:ext cx="915" cy="5486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ge port:dimension1:target"/>
          <p:cNvSpPr/>
          <p:nvPr/>
        </p:nvSpPr>
        <p:spPr>
          <a:xfrm>
            <a:off x="6079845" y="48454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Relationship:dimension2:0"/>
          <p:cNvCxnSpPr>
            <a:stCxn id="19" idx="3"/>
          </p:cNvCxnSpPr>
          <p:nvPr/>
        </p:nvCxnSpPr>
        <p:spPr>
          <a:xfrm flipH="1">
            <a:off x="7507223" y="3749039"/>
            <a:ext cx="914" cy="5486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dimension2:source"/>
          <p:cNvSpPr/>
          <p:nvPr/>
        </p:nvSpPr>
        <p:spPr>
          <a:xfrm>
            <a:off x="7506309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Relationship:dimension2:1"/>
          <p:cNvCxnSpPr/>
          <p:nvPr/>
        </p:nvCxnSpPr>
        <p:spPr>
          <a:xfrm flipH="1">
            <a:off x="6080760" y="4297680"/>
            <a:ext cx="1426463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lationship:dimension2:2"/>
          <p:cNvCxnSpPr>
            <a:endCxn id="22" idx="1"/>
          </p:cNvCxnSpPr>
          <p:nvPr/>
        </p:nvCxnSpPr>
        <p:spPr>
          <a:xfrm flipH="1">
            <a:off x="6079845" y="4297680"/>
            <a:ext cx="915" cy="5486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ge port:dimension2:target"/>
          <p:cNvSpPr/>
          <p:nvPr/>
        </p:nvSpPr>
        <p:spPr>
          <a:xfrm>
            <a:off x="6079845" y="48454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OCI icon:n0" descr="object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850" y="2231136"/>
            <a:ext cx="318459" cy="566928"/>
          </a:xfrm>
          <a:prstGeom prst="rect">
            <a:avLst/>
          </a:prstGeom>
        </p:spPr>
      </p:pic>
      <p:sp>
        <p:nvSpPr>
          <p:cNvPr id="24" name="Node label:n0"/>
          <p:cNvSpPr txBox="1"/>
          <p:nvPr/>
        </p:nvSpPr>
        <p:spPr>
          <a:xfrm>
            <a:off x="777240" y="2880360"/>
            <a:ext cx="2011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Standard</a:t>
            </a:r>
          </a:p>
        </p:txBody>
      </p:sp>
      <p:pic>
        <p:nvPicPr>
          <p:cNvPr id="25" name="OCI icon:n1" descr="object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922" y="2231136"/>
            <a:ext cx="318459" cy="566928"/>
          </a:xfrm>
          <a:prstGeom prst="rect">
            <a:avLst/>
          </a:prstGeom>
        </p:spPr>
      </p:pic>
      <p:sp>
        <p:nvSpPr>
          <p:cNvPr id="26" name="Node label:n1"/>
          <p:cNvSpPr txBox="1"/>
          <p:nvPr/>
        </p:nvSpPr>
        <p:spPr>
          <a:xfrm>
            <a:off x="3639312" y="2880360"/>
            <a:ext cx="2011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Infrequent Access</a:t>
            </a:r>
          </a:p>
        </p:txBody>
      </p:sp>
      <p:pic>
        <p:nvPicPr>
          <p:cNvPr id="27" name="OCI icon:n2" descr="object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994" y="2231136"/>
            <a:ext cx="318459" cy="566928"/>
          </a:xfrm>
          <a:prstGeom prst="rect">
            <a:avLst/>
          </a:prstGeom>
        </p:spPr>
      </p:pic>
      <p:sp>
        <p:nvSpPr>
          <p:cNvPr id="28" name="Node label:n2"/>
          <p:cNvSpPr txBox="1"/>
          <p:nvPr/>
        </p:nvSpPr>
        <p:spPr>
          <a:xfrm>
            <a:off x="6501383" y="2880360"/>
            <a:ext cx="2011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Archive</a:t>
            </a:r>
          </a:p>
        </p:txBody>
      </p:sp>
      <p:sp>
        <p:nvSpPr>
          <p:cNvPr id="29" name="Non-service concept:decision"/>
          <p:cNvSpPr txBox="1"/>
          <p:nvPr/>
        </p:nvSpPr>
        <p:spPr>
          <a:xfrm>
            <a:off x="3200400" y="4956048"/>
            <a:ext cx="5760720" cy="62179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Compare access / retention / retrieval</a:t>
            </a:r>
          </a:p>
        </p:txBody>
      </p:sp>
      <p:sp>
        <p:nvSpPr>
          <p:cNvPr id="30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Tier access and retention comparison.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1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Tier access and retention comparison.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Storage-tier icons use the Object Storage family, not distinct service symbols.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공식 Object Storage 계열 대체; 검색·보관·복원 지연·과금 비교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https://docs.oracle.com/en-us/iaas/Content/Object/Concepts/understandingstoragetiers.htm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