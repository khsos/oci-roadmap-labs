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Oracle cover logo" descr="oracl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13577"/>
            <a:ext cx="1280160" cy="270125"/>
          </a:xfrm>
          <a:prstGeom prst="rect">
            <a:avLst/>
          </a:prstGeom>
        </p:spPr>
      </p:pic>
      <p:sp>
        <p:nvSpPr>
          <p:cNvPr id="3" name="Cover title"/>
          <p:cNvSpPr txBox="1"/>
          <p:nvPr/>
        </p:nvSpPr>
        <p:spPr>
          <a:xfrm>
            <a:off x="731520" y="2011680"/>
            <a:ext cx="10789920" cy="1371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3200" b="1">
                <a:solidFill>
                  <a:srgbClr val="312D2A"/>
                </a:solidFill>
                <a:latin typeface="Malgun Gothic"/>
              </a:defRPr>
            </a:pPr>
            <a:r>
              <a:t>Introduction</a:t>
            </a:r>
          </a:p>
        </p:txBody>
      </p:sp>
      <p:sp>
        <p:nvSpPr>
          <p:cNvPr id="4" name="Cover subtitle"/>
          <p:cNvSpPr txBox="1"/>
          <p:nvPr/>
        </p:nvSpPr>
        <p:spPr>
          <a:xfrm>
            <a:off x="731520" y="3749039"/>
            <a:ext cx="1078992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000" b="0">
                <a:solidFill>
                  <a:srgbClr val="312D2A"/>
                </a:solidFill>
                <a:latin typeface="Malgun Gothic"/>
              </a:defRPr>
            </a:pPr>
            <a:r>
              <a:t>Illustrative OCI learning diagram | No cloud execution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gram title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Introduction</a:t>
            </a:r>
          </a:p>
        </p:txBody>
      </p:sp>
      <p:sp>
        <p:nvSpPr>
          <p:cNvPr id="3" name="Diagram classification"/>
          <p:cNvSpPr txBox="1"/>
          <p:nvPr/>
        </p:nvSpPr>
        <p:spPr>
          <a:xfrm>
            <a:off x="502920" y="1024128"/>
            <a:ext cx="11155680" cy="32004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AE562C"/>
                </a:solidFill>
                <a:latin typeface="Malgun Gothic"/>
              </a:defRPr>
            </a:pPr>
            <a:r>
              <a:t>ILLUSTRATIVE LEARNING MODEL | NOT AN AS-BUILT DEPLOYMENT</a:t>
            </a:r>
          </a:p>
        </p:txBody>
      </p:sp>
      <p:sp>
        <p:nvSpPr>
          <p:cNvPr id="4" name="Node anchor:lane0-source"/>
          <p:cNvSpPr/>
          <p:nvPr/>
        </p:nvSpPr>
        <p:spPr>
          <a:xfrm>
            <a:off x="9144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ode anchor:lane0-target"/>
          <p:cNvSpPr/>
          <p:nvPr/>
        </p:nvSpPr>
        <p:spPr>
          <a:xfrm>
            <a:off x="9144000" y="17830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ode anchor:lane1-source"/>
          <p:cNvSpPr/>
          <p:nvPr/>
        </p:nvSpPr>
        <p:spPr>
          <a:xfrm>
            <a:off x="9144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ode anchor:lane1-target"/>
          <p:cNvSpPr/>
          <p:nvPr/>
        </p:nvSpPr>
        <p:spPr>
          <a:xfrm>
            <a:off x="9144000" y="31546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Node anchor:lane2-source"/>
          <p:cNvSpPr/>
          <p:nvPr/>
        </p:nvSpPr>
        <p:spPr>
          <a:xfrm>
            <a:off x="914400" y="45262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ode anchor:lane2-target"/>
          <p:cNvSpPr/>
          <p:nvPr/>
        </p:nvSpPr>
        <p:spPr>
          <a:xfrm>
            <a:off x="9144000" y="4526280"/>
            <a:ext cx="2103120" cy="1234440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Relationship:r0:0"/>
          <p:cNvCxnSpPr>
            <a:stCxn id="11" idx="3"/>
            <a:endCxn id="12" idx="1"/>
          </p:cNvCxnSpPr>
          <p:nvPr/>
        </p:nvCxnSpPr>
        <p:spPr>
          <a:xfrm>
            <a:off x="3018433" y="23774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Edge port:r0:source"/>
          <p:cNvSpPr/>
          <p:nvPr/>
        </p:nvSpPr>
        <p:spPr>
          <a:xfrm>
            <a:off x="301660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Edge port:r0:target"/>
          <p:cNvSpPr/>
          <p:nvPr/>
        </p:nvSpPr>
        <p:spPr>
          <a:xfrm>
            <a:off x="9143085" y="23765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Edge label:r0"/>
          <p:cNvSpPr txBox="1"/>
          <p:nvPr/>
        </p:nvSpPr>
        <p:spPr>
          <a:xfrm>
            <a:off x="3337560" y="18013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operates compute</a:t>
            </a:r>
          </a:p>
        </p:txBody>
      </p:sp>
      <p:cxnSp>
        <p:nvCxnSpPr>
          <p:cNvPr id="14" name="Relationship:r1:0"/>
          <p:cNvCxnSpPr>
            <a:stCxn id="15" idx="3"/>
            <a:endCxn id="16" idx="1"/>
          </p:cNvCxnSpPr>
          <p:nvPr/>
        </p:nvCxnSpPr>
        <p:spPr>
          <a:xfrm>
            <a:off x="3018433" y="37490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dge port:r1:source"/>
          <p:cNvSpPr/>
          <p:nvPr/>
        </p:nvSpPr>
        <p:spPr>
          <a:xfrm>
            <a:off x="301660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Edge port:r1:target"/>
          <p:cNvSpPr/>
          <p:nvPr/>
        </p:nvSpPr>
        <p:spPr>
          <a:xfrm>
            <a:off x="9143085" y="37481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Edge label:r1"/>
          <p:cNvSpPr txBox="1"/>
          <p:nvPr/>
        </p:nvSpPr>
        <p:spPr>
          <a:xfrm>
            <a:off x="3337560" y="31729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accesses stored objects</a:t>
            </a:r>
          </a:p>
        </p:txBody>
      </p:sp>
      <p:cxnSp>
        <p:nvCxnSpPr>
          <p:cNvPr id="18" name="Relationship:r2:0"/>
          <p:cNvCxnSpPr>
            <a:stCxn id="19" idx="3"/>
            <a:endCxn id="20" idx="1"/>
          </p:cNvCxnSpPr>
          <p:nvPr/>
        </p:nvCxnSpPr>
        <p:spPr>
          <a:xfrm>
            <a:off x="3018433" y="5120639"/>
            <a:ext cx="6124652" cy="0"/>
          </a:xfrm>
          <a:prstGeom prst="line">
            <a:avLst/>
          </a:prstGeom>
          <a:ln w="17780">
            <a:solidFill>
              <a:srgbClr val="2C59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Edge port:r2:source"/>
          <p:cNvSpPr/>
          <p:nvPr/>
        </p:nvSpPr>
        <p:spPr>
          <a:xfrm>
            <a:off x="3016605" y="51197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Edge port:r2:target"/>
          <p:cNvSpPr/>
          <p:nvPr/>
        </p:nvSpPr>
        <p:spPr>
          <a:xfrm>
            <a:off x="9143085" y="5119725"/>
            <a:ext cx="1828" cy="1828"/>
          </a:xfrm>
          <a:prstGeom prst="rect">
            <a:avLst/>
          </a:prstGeom>
          <a:noFill/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dge label:r2"/>
          <p:cNvSpPr txBox="1"/>
          <p:nvPr/>
        </p:nvSpPr>
        <p:spPr>
          <a:xfrm>
            <a:off x="3337560" y="4544568"/>
            <a:ext cx="5440680" cy="457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100" b="0">
                <a:solidFill>
                  <a:srgbClr val="2C5967"/>
                </a:solidFill>
                <a:latin typeface="Malgun Gothic"/>
              </a:defRPr>
            </a:pPr>
            <a:r>
              <a:t>designs network scope</a:t>
            </a:r>
          </a:p>
        </p:txBody>
      </p:sp>
      <p:pic>
        <p:nvPicPr>
          <p:cNvPr id="22" name="OCI icon:lane0-source" descr="user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730" y="1865376"/>
            <a:ext cx="318459" cy="566928"/>
          </a:xfrm>
          <a:prstGeom prst="rect">
            <a:avLst/>
          </a:prstGeom>
        </p:spPr>
      </p:pic>
      <p:sp>
        <p:nvSpPr>
          <p:cNvPr id="23" name="Node label:lane0-source"/>
          <p:cNvSpPr txBox="1"/>
          <p:nvPr/>
        </p:nvSpPr>
        <p:spPr>
          <a:xfrm>
            <a:off x="9144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User</a:t>
            </a:r>
          </a:p>
        </p:txBody>
      </p:sp>
      <p:pic>
        <p:nvPicPr>
          <p:cNvPr id="24" name="OCI icon:lane0-target" descr="compute.offici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6330" y="1865376"/>
            <a:ext cx="318459" cy="566928"/>
          </a:xfrm>
          <a:prstGeom prst="rect">
            <a:avLst/>
          </a:prstGeom>
        </p:spPr>
      </p:pic>
      <p:sp>
        <p:nvSpPr>
          <p:cNvPr id="25" name="Node label:lane0-target"/>
          <p:cNvSpPr txBox="1"/>
          <p:nvPr/>
        </p:nvSpPr>
        <p:spPr>
          <a:xfrm>
            <a:off x="9144000" y="25146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Compute</a:t>
            </a:r>
          </a:p>
        </p:txBody>
      </p:sp>
      <p:pic>
        <p:nvPicPr>
          <p:cNvPr id="26" name="OCI icon:lane1-source" descr="user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730" y="3236976"/>
            <a:ext cx="318459" cy="566928"/>
          </a:xfrm>
          <a:prstGeom prst="rect">
            <a:avLst/>
          </a:prstGeom>
        </p:spPr>
      </p:pic>
      <p:sp>
        <p:nvSpPr>
          <p:cNvPr id="27" name="Node label:lane1-source"/>
          <p:cNvSpPr txBox="1"/>
          <p:nvPr/>
        </p:nvSpPr>
        <p:spPr>
          <a:xfrm>
            <a:off x="914400" y="38862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User</a:t>
            </a:r>
          </a:p>
        </p:txBody>
      </p:sp>
      <p:pic>
        <p:nvPicPr>
          <p:cNvPr id="28" name="OCI icon:lane1-target" descr="object-storage.offici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6330" y="3236976"/>
            <a:ext cx="318459" cy="566928"/>
          </a:xfrm>
          <a:prstGeom prst="rect">
            <a:avLst/>
          </a:prstGeom>
        </p:spPr>
      </p:pic>
      <p:sp>
        <p:nvSpPr>
          <p:cNvPr id="29" name="Node label:lane1-target"/>
          <p:cNvSpPr txBox="1"/>
          <p:nvPr/>
        </p:nvSpPr>
        <p:spPr>
          <a:xfrm>
            <a:off x="9144000" y="38862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Object Storage</a:t>
            </a:r>
          </a:p>
        </p:txBody>
      </p:sp>
      <p:pic>
        <p:nvPicPr>
          <p:cNvPr id="30" name="OCI icon:lane2-source" descr="user.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730" y="4608576"/>
            <a:ext cx="318459" cy="566928"/>
          </a:xfrm>
          <a:prstGeom prst="rect">
            <a:avLst/>
          </a:prstGeom>
        </p:spPr>
      </p:pic>
      <p:sp>
        <p:nvSpPr>
          <p:cNvPr id="31" name="Node label:lane2-source"/>
          <p:cNvSpPr txBox="1"/>
          <p:nvPr/>
        </p:nvSpPr>
        <p:spPr>
          <a:xfrm>
            <a:off x="914400" y="52578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User</a:t>
            </a:r>
          </a:p>
        </p:txBody>
      </p:sp>
      <p:pic>
        <p:nvPicPr>
          <p:cNvPr id="32" name="OCI icon:lane2-target" descr="virtual-cloud-network.offici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36330" y="4608576"/>
            <a:ext cx="318459" cy="566928"/>
          </a:xfrm>
          <a:prstGeom prst="rect">
            <a:avLst/>
          </a:prstGeom>
        </p:spPr>
      </p:pic>
      <p:sp>
        <p:nvSpPr>
          <p:cNvPr id="33" name="Node label:lane2-target"/>
          <p:cNvSpPr txBox="1"/>
          <p:nvPr/>
        </p:nvSpPr>
        <p:spPr>
          <a:xfrm>
            <a:off x="9144000" y="5257800"/>
            <a:ext cx="2103120" cy="50292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ctr">
              <a:defRPr sz="1200" b="1">
                <a:solidFill>
                  <a:srgbClr val="312D2A"/>
                </a:solidFill>
                <a:latin typeface="Malgun Gothic"/>
              </a:defRPr>
            </a:pPr>
            <a:r>
              <a:t>VCN</a:t>
            </a:r>
          </a:p>
        </p:txBody>
      </p:sp>
      <p:sp>
        <p:nvSpPr>
          <p:cNvPr id="34" name="Model caveat"/>
          <p:cNvSpPr txBox="1"/>
          <p:nvPr/>
        </p:nvSpPr>
        <p:spPr>
          <a:xfrm>
            <a:off x="640080" y="6016752"/>
            <a:ext cx="10881360" cy="438912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Service roles (not traffic). Management / concept arrows unless explicitly marked traffic.</a:t>
            </a:r>
          </a:p>
          <a:p>
            <a:pPr algn="l">
              <a:defRPr sz="11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</p:txBody>
      </p:sp>
      <p:sp>
        <p:nvSpPr>
          <p:cNvPr id="35" name="Diagram footer"/>
          <p:cNvSpPr txBox="1"/>
          <p:nvPr/>
        </p:nvSpPr>
        <p:spPr>
          <a:xfrm>
            <a:off x="502920" y="6473952"/>
            <a:ext cx="11155680" cy="2286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000" b="0">
                <a:solidFill>
                  <a:srgbClr val="C74634"/>
                </a:solidFill>
                <a:latin typeface="Malgun Gothic"/>
              </a:defRPr>
            </a:pPr>
            <a:r>
              <a:t>AI-assisted illustrative model; verify official docs. No OCI resources created.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Assumptions / scope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Service roles (not traffic). Management / concept arrows unless explicitly marked traffic.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Scope: illustrative learning only; no OCI provisioning or paid service execution.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Repeated labels denote the same role in separate relationship views, not extra resources.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Service-family icon meanings and exact official toolkit titles are disclosed in the model JSON.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역할·운영 주체 분류; 배포 사실 아님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실제 OCI 실행·배포 검증은 수행하지 않았다.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이 논리 관계도는 Subnet 배치나 네트워크 route를 증명하지 않는다.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 title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2500" b="1">
                <a:solidFill>
                  <a:srgbClr val="312D2A"/>
                </a:solidFill>
                <a:latin typeface="Malgun Gothic"/>
              </a:defRPr>
            </a:pPr>
            <a:r>
              <a:t>Validation checkpoints / sources</a:t>
            </a:r>
          </a:p>
        </p:txBody>
      </p:sp>
      <p:sp>
        <p:nvSpPr>
          <p:cNvPr id="3" name="Notes body"/>
          <p:cNvSpPr txBox="1"/>
          <p:nvPr/>
        </p:nvSpPr>
        <p:spPr>
          <a:xfrm>
            <a:off x="685800" y="1371600"/>
            <a:ext cx="10789920" cy="5029200"/>
          </a:xfrm>
          <a:prstGeom prst="rect">
            <a:avLst/>
          </a:prstGeom>
          <a:noFill/>
        </p:spPr>
        <p:txBody>
          <a:bodyPr wrap="square" lIns="27432" rIns="27432" tIns="0" bIns="0">
            <a:spAutoFit/>
          </a:bodyPr>
          <a:lstStyle/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Confirm service-specific semantics; no cloud provisioning.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Verify native PowerPoint, hierarchy, endpoint attachment and icon provenance.</a:t>
            </a: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</a:p>
          <a:p>
            <a:pPr algn="l">
              <a:defRPr sz="1400" b="0">
                <a:solidFill>
                  <a:srgbClr val="312D2A"/>
                </a:solidFill>
                <a:latin typeface="Malgun Gothic"/>
              </a:defRPr>
            </a:pPr>
            <a:r>
              <a:t>https://www.oracle.com/cloud/what-is-cloud-computing/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