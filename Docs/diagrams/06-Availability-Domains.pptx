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Availability Domains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Availability Domains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Semantic group:region"/>
          <p:cNvSpPr/>
          <p:nvPr/>
        </p:nvSpPr>
        <p:spPr>
          <a:xfrm>
            <a:off x="640080" y="1600200"/>
            <a:ext cx="10881360" cy="429768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:region"/>
          <p:cNvSpPr txBox="1"/>
          <p:nvPr/>
        </p:nvSpPr>
        <p:spPr>
          <a:xfrm>
            <a:off x="749808" y="1709928"/>
            <a:ext cx="106619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OCI Region</a:t>
            </a:r>
          </a:p>
        </p:txBody>
      </p:sp>
      <p:sp>
        <p:nvSpPr>
          <p:cNvPr id="6" name="Semantic group:ad1"/>
          <p:cNvSpPr/>
          <p:nvPr/>
        </p:nvSpPr>
        <p:spPr>
          <a:xfrm>
            <a:off x="1005840" y="2286000"/>
            <a:ext cx="4709160" cy="310896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:ad1"/>
          <p:cNvSpPr txBox="1"/>
          <p:nvPr/>
        </p:nvSpPr>
        <p:spPr>
          <a:xfrm>
            <a:off x="1115568" y="2395728"/>
            <a:ext cx="44897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AD A</a:t>
            </a:r>
          </a:p>
        </p:txBody>
      </p:sp>
      <p:sp>
        <p:nvSpPr>
          <p:cNvPr id="8" name="Semantic group:ad2"/>
          <p:cNvSpPr/>
          <p:nvPr/>
        </p:nvSpPr>
        <p:spPr>
          <a:xfrm>
            <a:off x="6446520" y="2286000"/>
            <a:ext cx="4709160" cy="3108960"/>
          </a:xfrm>
          <a:prstGeom prst="rect">
            <a:avLst/>
          </a:prstGeom>
          <a:solidFill>
            <a:srgbClr val="F5F4F2"/>
          </a:solidFill>
          <a:ln w="12700">
            <a:solidFill>
              <a:srgbClr val="9E9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roup label:ad2"/>
          <p:cNvSpPr txBox="1"/>
          <p:nvPr/>
        </p:nvSpPr>
        <p:spPr>
          <a:xfrm>
            <a:off x="6556248" y="2395728"/>
            <a:ext cx="4489704" cy="36576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300" b="1">
                <a:solidFill>
                  <a:srgbClr val="312D2A"/>
                </a:solidFill>
                <a:latin typeface="Malgun Gothic"/>
              </a:defRPr>
            </a:pPr>
            <a:r>
              <a:t>AD B (only where available)</a:t>
            </a:r>
          </a:p>
        </p:txBody>
      </p:sp>
      <p:sp>
        <p:nvSpPr>
          <p:cNvPr id="10" name="Node anchor:vm1"/>
          <p:cNvSpPr/>
          <p:nvPr/>
        </p:nvSpPr>
        <p:spPr>
          <a:xfrm>
            <a:off x="2103120" y="3246120"/>
            <a:ext cx="2514600" cy="16459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 anchor:vm2"/>
          <p:cNvSpPr/>
          <p:nvPr/>
        </p:nvSpPr>
        <p:spPr>
          <a:xfrm>
            <a:off x="7589520" y="3246120"/>
            <a:ext cx="2514600" cy="164592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OCI icon:vm1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190" y="3328415"/>
            <a:ext cx="318459" cy="566928"/>
          </a:xfrm>
          <a:prstGeom prst="rect">
            <a:avLst/>
          </a:prstGeom>
        </p:spPr>
      </p:pic>
      <p:sp>
        <p:nvSpPr>
          <p:cNvPr id="13" name="Node label:vm1"/>
          <p:cNvSpPr txBox="1"/>
          <p:nvPr/>
        </p:nvSpPr>
        <p:spPr>
          <a:xfrm>
            <a:off x="2103120" y="3977639"/>
            <a:ext cx="2514600" cy="914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placement</a:t>
            </a:r>
          </a:p>
        </p:txBody>
      </p:sp>
      <p:pic>
        <p:nvPicPr>
          <p:cNvPr id="14" name="OCI icon:vm2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590" y="3328415"/>
            <a:ext cx="318459" cy="566928"/>
          </a:xfrm>
          <a:prstGeom prst="rect">
            <a:avLst/>
          </a:prstGeom>
        </p:spPr>
      </p:pic>
      <p:sp>
        <p:nvSpPr>
          <p:cNvPr id="15" name="Node label:vm2"/>
          <p:cNvSpPr txBox="1"/>
          <p:nvPr/>
        </p:nvSpPr>
        <p:spPr>
          <a:xfrm>
            <a:off x="7589520" y="3977639"/>
            <a:ext cx="2514600" cy="9144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Alternative placement</a:t>
            </a:r>
          </a:p>
        </p:txBody>
      </p:sp>
      <p:sp>
        <p:nvSpPr>
          <p:cNvPr id="16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Region &gt; AD &gt; workload placement.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17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Region &gt; AD &gt; workload placement.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Region-specific AD count must be checked. Regional VCN is not owned by one AD.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AD 수는 Region별 확인; VCN은 regional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https://docs.oracle.com/en-us/iaas/Content/General/Concepts/regions.htm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