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IaaS / PaaS / SaaS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IaaS / PaaS / SaaS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ode anchor:lane2-source"/>
          <p:cNvSpPr/>
          <p:nvPr/>
        </p:nvSpPr>
        <p:spPr>
          <a:xfrm>
            <a:off x="9144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ode anchor:lane2-target"/>
          <p:cNvSpPr/>
          <p:nvPr/>
        </p:nvSpPr>
        <p:spPr>
          <a:xfrm>
            <a:off x="91440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Relationship:r0:0"/>
          <p:cNvCxnSpPr>
            <a:stCxn id="11" idx="3"/>
            <a:endCxn id="12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customer manages guest OS</a:t>
            </a:r>
          </a:p>
        </p:txBody>
      </p:sp>
      <p:cxnSp>
        <p:nvCxnSpPr>
          <p:cNvPr id="14" name="Relationship:r1:0"/>
          <p:cNvCxnSpPr>
            <a:stCxn id="15" idx="3"/>
            <a:endCxn id="16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customer manages data</a:t>
            </a:r>
          </a:p>
        </p:txBody>
      </p:sp>
      <p:cxnSp>
        <p:nvCxnSpPr>
          <p:cNvPr id="18" name="Relationship:r2:0"/>
          <p:cNvCxnSpPr>
            <a:stCxn id="19" idx="3"/>
            <a:endCxn id="20" idx="1"/>
          </p:cNvCxnSpPr>
          <p:nvPr/>
        </p:nvCxnSpPr>
        <p:spPr>
          <a:xfrm>
            <a:off x="3018433" y="51206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dge port:r2:source"/>
          <p:cNvSpPr/>
          <p:nvPr/>
        </p:nvSpPr>
        <p:spPr>
          <a:xfrm>
            <a:off x="301660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ge port:r2:target"/>
          <p:cNvSpPr/>
          <p:nvPr/>
        </p:nvSpPr>
        <p:spPr>
          <a:xfrm>
            <a:off x="914308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ge label:r2"/>
          <p:cNvSpPr txBox="1"/>
          <p:nvPr/>
        </p:nvSpPr>
        <p:spPr>
          <a:xfrm>
            <a:off x="3337560" y="45445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customer manages usage</a:t>
            </a:r>
          </a:p>
        </p:txBody>
      </p:sp>
      <p:pic>
        <p:nvPicPr>
          <p:cNvPr id="22" name="OCI icon:lane0-source" descr="user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1865376"/>
            <a:ext cx="318459" cy="566928"/>
          </a:xfrm>
          <a:prstGeom prst="rect">
            <a:avLst/>
          </a:prstGeom>
        </p:spPr>
      </p:pic>
      <p:sp>
        <p:nvSpPr>
          <p:cNvPr id="23" name="Node label:lane0-source"/>
          <p:cNvSpPr txBox="1"/>
          <p:nvPr/>
        </p:nvSpPr>
        <p:spPr>
          <a:xfrm>
            <a:off x="9144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Customer</a:t>
            </a:r>
          </a:p>
        </p:txBody>
      </p:sp>
      <p:pic>
        <p:nvPicPr>
          <p:cNvPr id="24" name="OCI icon:lane0-target" descr="compute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1865376"/>
            <a:ext cx="318459" cy="566928"/>
          </a:xfrm>
          <a:prstGeom prst="rect">
            <a:avLst/>
          </a:prstGeom>
        </p:spPr>
      </p:pic>
      <p:sp>
        <p:nvSpPr>
          <p:cNvPr id="25" name="Node label:lane0-target"/>
          <p:cNvSpPr txBox="1"/>
          <p:nvPr/>
        </p:nvSpPr>
        <p:spPr>
          <a:xfrm>
            <a:off x="91440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IaaS Compute</a:t>
            </a:r>
          </a:p>
        </p:txBody>
      </p:sp>
      <p:pic>
        <p:nvPicPr>
          <p:cNvPr id="26" name="OCI icon:lane1-source" descr="user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3236976"/>
            <a:ext cx="318459" cy="566928"/>
          </a:xfrm>
          <a:prstGeom prst="rect">
            <a:avLst/>
          </a:prstGeom>
        </p:spPr>
      </p:pic>
      <p:sp>
        <p:nvSpPr>
          <p:cNvPr id="27" name="Node label:lane1-source"/>
          <p:cNvSpPr txBox="1"/>
          <p:nvPr/>
        </p:nvSpPr>
        <p:spPr>
          <a:xfrm>
            <a:off x="9144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Customer</a:t>
            </a:r>
          </a:p>
        </p:txBody>
      </p:sp>
      <p:pic>
        <p:nvPicPr>
          <p:cNvPr id="28" name="OCI icon:lane1-target" descr="database.offic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6330" y="3236976"/>
            <a:ext cx="318459" cy="566928"/>
          </a:xfrm>
          <a:prstGeom prst="rect">
            <a:avLst/>
          </a:prstGeom>
        </p:spPr>
      </p:pic>
      <p:sp>
        <p:nvSpPr>
          <p:cNvPr id="29" name="Node label:lane1-target"/>
          <p:cNvSpPr txBox="1"/>
          <p:nvPr/>
        </p:nvSpPr>
        <p:spPr>
          <a:xfrm>
            <a:off x="91440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PaaS Database</a:t>
            </a:r>
          </a:p>
        </p:txBody>
      </p:sp>
      <p:pic>
        <p:nvPicPr>
          <p:cNvPr id="30" name="OCI icon:lane2-source" descr="user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4608576"/>
            <a:ext cx="318459" cy="566928"/>
          </a:xfrm>
          <a:prstGeom prst="rect">
            <a:avLst/>
          </a:prstGeom>
        </p:spPr>
      </p:pic>
      <p:sp>
        <p:nvSpPr>
          <p:cNvPr id="31" name="Node label:lane2-source"/>
          <p:cNvSpPr txBox="1"/>
          <p:nvPr/>
        </p:nvSpPr>
        <p:spPr>
          <a:xfrm>
            <a:off x="914400" y="52578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Customer</a:t>
            </a:r>
          </a:p>
        </p:txBody>
      </p:sp>
      <p:sp>
        <p:nvSpPr>
          <p:cNvPr id="32" name="Non-service concept:lane2-target"/>
          <p:cNvSpPr txBox="1"/>
          <p:nvPr/>
        </p:nvSpPr>
        <p:spPr>
          <a:xfrm>
            <a:off x="9144000" y="46360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SaaS business app</a:t>
            </a:r>
          </a:p>
        </p:txBody>
      </p:sp>
      <p:sp>
        <p:nvSpPr>
          <p:cNvPr id="33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Management boundaries.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34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Management boundaries.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서비스별 책임 비교; SaaS는 특정 OCI 서비스 아님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https://www.oracle.com/cloud/what-is-cloud-computing/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