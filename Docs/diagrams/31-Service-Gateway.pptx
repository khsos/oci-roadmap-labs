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Service Gateway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Service Gateway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gion"/>
          <p:cNvSpPr/>
          <p:nvPr/>
        </p:nvSpPr>
        <p:spPr>
          <a:xfrm>
            <a:off x="594360" y="1645920"/>
            <a:ext cx="10972800" cy="429768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gion"/>
          <p:cNvSpPr txBox="1"/>
          <p:nvPr/>
        </p:nvSpPr>
        <p:spPr>
          <a:xfrm>
            <a:off x="704088" y="1755648"/>
            <a:ext cx="107533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Region</a:t>
            </a:r>
          </a:p>
        </p:txBody>
      </p:sp>
      <p:sp>
        <p:nvSpPr>
          <p:cNvPr id="6" name="Semantic group:vcn"/>
          <p:cNvSpPr/>
          <p:nvPr/>
        </p:nvSpPr>
        <p:spPr>
          <a:xfrm>
            <a:off x="914400" y="2194560"/>
            <a:ext cx="6583680" cy="338328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vcn"/>
          <p:cNvSpPr txBox="1"/>
          <p:nvPr/>
        </p:nvSpPr>
        <p:spPr>
          <a:xfrm>
            <a:off x="1024128" y="2304288"/>
            <a:ext cx="636422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Regional VCN</a:t>
            </a:r>
          </a:p>
        </p:txBody>
      </p:sp>
      <p:sp>
        <p:nvSpPr>
          <p:cNvPr id="8" name="Semantic group:subnet"/>
          <p:cNvSpPr/>
          <p:nvPr/>
        </p:nvSpPr>
        <p:spPr>
          <a:xfrm>
            <a:off x="1280160" y="2788920"/>
            <a:ext cx="3017520" cy="237744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subnet"/>
          <p:cNvSpPr txBox="1"/>
          <p:nvPr/>
        </p:nvSpPr>
        <p:spPr>
          <a:xfrm>
            <a:off x="1389888" y="2898648"/>
            <a:ext cx="2798063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Private Subnet</a:t>
            </a:r>
          </a:p>
        </p:txBody>
      </p:sp>
      <p:sp>
        <p:nvSpPr>
          <p:cNvPr id="10" name="Semantic group:osn"/>
          <p:cNvSpPr/>
          <p:nvPr/>
        </p:nvSpPr>
        <p:spPr>
          <a:xfrm>
            <a:off x="8046720" y="2194560"/>
            <a:ext cx="3108960" cy="338328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roup label:osn"/>
          <p:cNvSpPr txBox="1"/>
          <p:nvPr/>
        </p:nvSpPr>
        <p:spPr>
          <a:xfrm>
            <a:off x="8156448" y="2304288"/>
            <a:ext cx="28895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Supported Regional OSN</a:t>
            </a:r>
          </a:p>
        </p:txBody>
      </p:sp>
      <p:sp>
        <p:nvSpPr>
          <p:cNvPr id="12" name="Node anchor:vm"/>
          <p:cNvSpPr/>
          <p:nvPr/>
        </p:nvSpPr>
        <p:spPr>
          <a:xfrm>
            <a:off x="178308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 anchor:gateway"/>
          <p:cNvSpPr/>
          <p:nvPr/>
        </p:nvSpPr>
        <p:spPr>
          <a:xfrm>
            <a:off x="498348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ode anchor:outside"/>
          <p:cNvSpPr/>
          <p:nvPr/>
        </p:nvSpPr>
        <p:spPr>
          <a:xfrm>
            <a:off x="859536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ode anchor:route"/>
          <p:cNvSpPr/>
          <p:nvPr/>
        </p:nvSpPr>
        <p:spPr>
          <a:xfrm>
            <a:off x="4480560" y="2651760"/>
            <a:ext cx="2743200" cy="5486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Relationship:request0:0"/>
          <p:cNvCxnSpPr>
            <a:stCxn id="17" idx="3"/>
            <a:endCxn id="18" idx="1"/>
          </p:cNvCxnSpPr>
          <p:nvPr/>
        </p:nvCxnSpPr>
        <p:spPr>
          <a:xfrm>
            <a:off x="3795673" y="3657599"/>
            <a:ext cx="118689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ge port:request0:source"/>
          <p:cNvSpPr/>
          <p:nvPr/>
        </p:nvSpPr>
        <p:spPr>
          <a:xfrm>
            <a:off x="379384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ge port:request0:target"/>
          <p:cNvSpPr/>
          <p:nvPr/>
        </p:nvSpPr>
        <p:spPr>
          <a:xfrm>
            <a:off x="498256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ge label:request0"/>
          <p:cNvSpPr txBox="1"/>
          <p:nvPr/>
        </p:nvSpPr>
        <p:spPr>
          <a:xfrm>
            <a:off x="3794760" y="3200400"/>
            <a:ext cx="118871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</a:t>
            </a:r>
          </a:p>
        </p:txBody>
      </p:sp>
      <p:cxnSp>
        <p:nvCxnSpPr>
          <p:cNvPr id="20" name="Relationship:return0:0"/>
          <p:cNvCxnSpPr>
            <a:stCxn id="21" idx="3"/>
            <a:endCxn id="22" idx="1"/>
          </p:cNvCxnSpPr>
          <p:nvPr/>
        </p:nvCxnSpPr>
        <p:spPr>
          <a:xfrm flipH="1">
            <a:off x="3793845" y="4206239"/>
            <a:ext cx="1190548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 port:return0:source"/>
          <p:cNvSpPr/>
          <p:nvPr/>
        </p:nvSpPr>
        <p:spPr>
          <a:xfrm>
            <a:off x="498256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ge port:return0:target"/>
          <p:cNvSpPr/>
          <p:nvPr/>
        </p:nvSpPr>
        <p:spPr>
          <a:xfrm>
            <a:off x="379384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ge label:return0"/>
          <p:cNvSpPr txBox="1"/>
          <p:nvPr/>
        </p:nvSpPr>
        <p:spPr>
          <a:xfrm>
            <a:off x="3794760" y="4709160"/>
            <a:ext cx="1188719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return</a:t>
            </a:r>
          </a:p>
        </p:txBody>
      </p:sp>
      <p:cxnSp>
        <p:nvCxnSpPr>
          <p:cNvPr id="24" name="Relationship:request1:0"/>
          <p:cNvCxnSpPr>
            <a:stCxn id="25" idx="3"/>
            <a:endCxn id="26" idx="1"/>
          </p:cNvCxnSpPr>
          <p:nvPr/>
        </p:nvCxnSpPr>
        <p:spPr>
          <a:xfrm>
            <a:off x="6996073" y="3657599"/>
            <a:ext cx="159837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 port:request1:source"/>
          <p:cNvSpPr/>
          <p:nvPr/>
        </p:nvSpPr>
        <p:spPr>
          <a:xfrm>
            <a:off x="699424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ge port:request1:target"/>
          <p:cNvSpPr/>
          <p:nvPr/>
        </p:nvSpPr>
        <p:spPr>
          <a:xfrm>
            <a:off x="859444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ge label:request1"/>
          <p:cNvSpPr txBox="1"/>
          <p:nvPr/>
        </p:nvSpPr>
        <p:spPr>
          <a:xfrm>
            <a:off x="6995160" y="3200400"/>
            <a:ext cx="16002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</a:t>
            </a:r>
          </a:p>
        </p:txBody>
      </p:sp>
      <p:cxnSp>
        <p:nvCxnSpPr>
          <p:cNvPr id="28" name="Relationship:return1:0"/>
          <p:cNvCxnSpPr>
            <a:stCxn id="29" idx="3"/>
            <a:endCxn id="30" idx="1"/>
          </p:cNvCxnSpPr>
          <p:nvPr/>
        </p:nvCxnSpPr>
        <p:spPr>
          <a:xfrm flipH="1">
            <a:off x="6994245" y="4206239"/>
            <a:ext cx="1602028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ge port:return1:source"/>
          <p:cNvSpPr/>
          <p:nvPr/>
        </p:nvSpPr>
        <p:spPr>
          <a:xfrm>
            <a:off x="859444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ge port:return1:target"/>
          <p:cNvSpPr/>
          <p:nvPr/>
        </p:nvSpPr>
        <p:spPr>
          <a:xfrm>
            <a:off x="699424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ge label:return1"/>
          <p:cNvSpPr txBox="1"/>
          <p:nvPr/>
        </p:nvSpPr>
        <p:spPr>
          <a:xfrm>
            <a:off x="6995160" y="4709160"/>
            <a:ext cx="160020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return</a:t>
            </a:r>
          </a:p>
        </p:txBody>
      </p:sp>
      <p:cxnSp>
        <p:nvCxnSpPr>
          <p:cNvPr id="32" name="Relationship:route-association:0"/>
          <p:cNvCxnSpPr>
            <a:stCxn id="33" idx="3"/>
            <a:endCxn id="34" idx="1"/>
          </p:cNvCxnSpPr>
          <p:nvPr/>
        </p:nvCxnSpPr>
        <p:spPr>
          <a:xfrm flipH="1">
            <a:off x="5851245" y="3200399"/>
            <a:ext cx="1828" cy="13716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dge port:route-association:source"/>
          <p:cNvSpPr/>
          <p:nvPr/>
        </p:nvSpPr>
        <p:spPr>
          <a:xfrm>
            <a:off x="5851245" y="31994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ge port:route-association:target"/>
          <p:cNvSpPr/>
          <p:nvPr/>
        </p:nvSpPr>
        <p:spPr>
          <a:xfrm>
            <a:off x="5851245" y="333664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ge label:route-association"/>
          <p:cNvSpPr txBox="1"/>
          <p:nvPr/>
        </p:nvSpPr>
        <p:spPr>
          <a:xfrm>
            <a:off x="4480560" y="2971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route next hop</a:t>
            </a:r>
          </a:p>
        </p:txBody>
      </p:sp>
      <p:pic>
        <p:nvPicPr>
          <p:cNvPr id="36" name="OCI icon:vm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90" y="3419856"/>
            <a:ext cx="318459" cy="566928"/>
          </a:xfrm>
          <a:prstGeom prst="rect">
            <a:avLst/>
          </a:prstGeom>
        </p:spPr>
      </p:pic>
      <p:sp>
        <p:nvSpPr>
          <p:cNvPr id="37" name="Node label:vm"/>
          <p:cNvSpPr txBox="1"/>
          <p:nvPr/>
        </p:nvSpPr>
        <p:spPr>
          <a:xfrm>
            <a:off x="178308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VNIC</a:t>
            </a:r>
          </a:p>
        </p:txBody>
      </p:sp>
      <p:pic>
        <p:nvPicPr>
          <p:cNvPr id="38" name="OCI icon:gateway" descr="service-gateway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090" y="3419856"/>
            <a:ext cx="318459" cy="566928"/>
          </a:xfrm>
          <a:prstGeom prst="rect">
            <a:avLst/>
          </a:prstGeom>
        </p:spPr>
      </p:pic>
      <p:sp>
        <p:nvSpPr>
          <p:cNvPr id="39" name="Node label:gateway"/>
          <p:cNvSpPr txBox="1"/>
          <p:nvPr/>
        </p:nvSpPr>
        <p:spPr>
          <a:xfrm>
            <a:off x="498348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SGW</a:t>
            </a:r>
          </a:p>
        </p:txBody>
      </p:sp>
      <p:pic>
        <p:nvPicPr>
          <p:cNvPr id="40" name="OCI icon:outside" descr="object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970" y="3419856"/>
            <a:ext cx="318459" cy="566928"/>
          </a:xfrm>
          <a:prstGeom prst="rect">
            <a:avLst/>
          </a:prstGeom>
        </p:spPr>
      </p:pic>
      <p:sp>
        <p:nvSpPr>
          <p:cNvPr id="41" name="Node label:outside"/>
          <p:cNvSpPr txBox="1"/>
          <p:nvPr/>
        </p:nvSpPr>
        <p:spPr>
          <a:xfrm>
            <a:off x="859536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Object Storage</a:t>
            </a:r>
          </a:p>
        </p:txBody>
      </p:sp>
      <p:sp>
        <p:nvSpPr>
          <p:cNvPr id="42" name="Non-service concept:route"/>
          <p:cNvSpPr txBox="1"/>
          <p:nvPr/>
        </p:nvSpPr>
        <p:spPr>
          <a:xfrm>
            <a:off x="4480560" y="2761488"/>
            <a:ext cx="274320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Oracle service CIDR -&gt; SGW</a:t>
            </a:r>
          </a:p>
        </p:txBody>
      </p:sp>
      <p:sp>
        <p:nvSpPr>
          <p:cNvPr id="4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Supported regional OSN access only; not Internet egress. Route and security rules are both required.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4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Supported regional OSN access only; not Internet egress. Route and security rules are both required.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regional OSN 서비스용; Internet egress·모든 Oracle 서비스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