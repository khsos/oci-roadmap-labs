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Layer 3 / Layer 4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Layer 3 / Layer 4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Relationship:r0:0"/>
          <p:cNvCxnSpPr>
            <a:stCxn id="9" idx="3"/>
            <a:endCxn id="10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L3/L4 listener match</a:t>
            </a:r>
          </a:p>
        </p:txBody>
      </p:sp>
      <p:cxnSp>
        <p:nvCxnSpPr>
          <p:cNvPr id="12" name="Relationship:r1:0"/>
          <p:cNvCxnSpPr>
            <a:stCxn id="13" idx="3"/>
            <a:endCxn id="14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IP / port forwarding</a:t>
            </a:r>
          </a:p>
        </p:txBody>
      </p:sp>
      <p:sp>
        <p:nvSpPr>
          <p:cNvPr id="16" name="Non-service concept:lane0-source"/>
          <p:cNvSpPr txBox="1"/>
          <p:nvPr/>
        </p:nvSpPr>
        <p:spPr>
          <a:xfrm>
            <a:off x="914400" y="1892807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IP protocol</a:t>
            </a:r>
          </a:p>
        </p:txBody>
      </p:sp>
      <p:pic>
        <p:nvPicPr>
          <p:cNvPr id="17" name="OCI icon:lane0-target" descr="load-balancer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6330" y="1865376"/>
            <a:ext cx="318459" cy="566928"/>
          </a:xfrm>
          <a:prstGeom prst="rect">
            <a:avLst/>
          </a:prstGeom>
        </p:spPr>
      </p:pic>
      <p:sp>
        <p:nvSpPr>
          <p:cNvPr id="18" name="Node label:lane0-target"/>
          <p:cNvSpPr txBox="1"/>
          <p:nvPr/>
        </p:nvSpPr>
        <p:spPr>
          <a:xfrm>
            <a:off x="91440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NLB listener</a:t>
            </a:r>
          </a:p>
        </p:txBody>
      </p:sp>
      <p:pic>
        <p:nvPicPr>
          <p:cNvPr id="19" name="OCI icon:lane1-source" descr="load-balancer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3236976"/>
            <a:ext cx="318459" cy="566928"/>
          </a:xfrm>
          <a:prstGeom prst="rect">
            <a:avLst/>
          </a:prstGeom>
        </p:spPr>
      </p:pic>
      <p:sp>
        <p:nvSpPr>
          <p:cNvPr id="20" name="Node label:lane1-source"/>
          <p:cNvSpPr txBox="1"/>
          <p:nvPr/>
        </p:nvSpPr>
        <p:spPr>
          <a:xfrm>
            <a:off x="9144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NLB listener</a:t>
            </a:r>
          </a:p>
        </p:txBody>
      </p:sp>
      <p:pic>
        <p:nvPicPr>
          <p:cNvPr id="21" name="OCI icon:lane1-target" descr="compute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3236976"/>
            <a:ext cx="318459" cy="566928"/>
          </a:xfrm>
          <a:prstGeom prst="rect">
            <a:avLst/>
          </a:prstGeom>
        </p:spPr>
      </p:pic>
      <p:sp>
        <p:nvSpPr>
          <p:cNvPr id="22" name="Node label:lane1-target"/>
          <p:cNvSpPr txBox="1"/>
          <p:nvPr/>
        </p:nvSpPr>
        <p:spPr>
          <a:xfrm>
            <a:off x="91440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Backend IP and port</a:t>
            </a:r>
          </a:p>
        </p:txBody>
      </p:sp>
      <p:sp>
        <p:nvSpPr>
          <p:cNvPr id="23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Protocol and port forwarding.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24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Protocol and port forwarding.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NLB uses disclosed Load Balancer-family toolkit symbol; not an HTTP LB / WAF association.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L3/L4 전달; HTTP path rule 아님; LB 계열 대체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NLB listener uses Oracle Load Balancer family icon; not an exact NLB asset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Backend IP and port uses Oracle Load Balancer family icon; not an exact NLB asset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https://docs.oracle.com/en-us/iaas/Content/NetworkLoadBalancer/overview.htm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https://docs.oracle.com/en-us/iaas/Content/NetworkLoadBalancer/introduction.htm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