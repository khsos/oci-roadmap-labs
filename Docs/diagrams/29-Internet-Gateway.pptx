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Internet Gateway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Internet Gateway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Semantic group:region"/>
          <p:cNvSpPr/>
          <p:nvPr/>
        </p:nvSpPr>
        <p:spPr>
          <a:xfrm>
            <a:off x="3657600" y="1645920"/>
            <a:ext cx="7863840" cy="429768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:region"/>
          <p:cNvSpPr txBox="1"/>
          <p:nvPr/>
        </p:nvSpPr>
        <p:spPr>
          <a:xfrm>
            <a:off x="3767328" y="1755648"/>
            <a:ext cx="7644383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OCI Region</a:t>
            </a:r>
          </a:p>
        </p:txBody>
      </p:sp>
      <p:sp>
        <p:nvSpPr>
          <p:cNvPr id="6" name="Semantic group:vcn"/>
          <p:cNvSpPr/>
          <p:nvPr/>
        </p:nvSpPr>
        <p:spPr>
          <a:xfrm>
            <a:off x="4023360" y="2194560"/>
            <a:ext cx="7132320" cy="338328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:vcn"/>
          <p:cNvSpPr txBox="1"/>
          <p:nvPr/>
        </p:nvSpPr>
        <p:spPr>
          <a:xfrm>
            <a:off x="4133088" y="2304288"/>
            <a:ext cx="691286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Regional VCN</a:t>
            </a:r>
          </a:p>
        </p:txBody>
      </p:sp>
      <p:sp>
        <p:nvSpPr>
          <p:cNvPr id="8" name="Semantic group:subnet"/>
          <p:cNvSpPr/>
          <p:nvPr/>
        </p:nvSpPr>
        <p:spPr>
          <a:xfrm>
            <a:off x="7680960" y="2788920"/>
            <a:ext cx="3200400" cy="2377440"/>
          </a:xfrm>
          <a:prstGeom prst="rect">
            <a:avLst/>
          </a:prstGeom>
          <a:solidFill>
            <a:srgbClr val="F5F4F2"/>
          </a:solidFill>
          <a:ln w="12700">
            <a:solidFill>
              <a:srgbClr val="AE5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oup label:subnet"/>
          <p:cNvSpPr txBox="1"/>
          <p:nvPr/>
        </p:nvSpPr>
        <p:spPr>
          <a:xfrm>
            <a:off x="7790688" y="2898648"/>
            <a:ext cx="298094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Public Subnet</a:t>
            </a:r>
          </a:p>
        </p:txBody>
      </p:sp>
      <p:sp>
        <p:nvSpPr>
          <p:cNvPr id="10" name="Node anchor:outside"/>
          <p:cNvSpPr/>
          <p:nvPr/>
        </p:nvSpPr>
        <p:spPr>
          <a:xfrm>
            <a:off x="822960" y="3337560"/>
            <a:ext cx="201168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ode anchor:gateway"/>
          <p:cNvSpPr/>
          <p:nvPr/>
        </p:nvSpPr>
        <p:spPr>
          <a:xfrm>
            <a:off x="4663440" y="3337560"/>
            <a:ext cx="201168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ode anchor:vm"/>
          <p:cNvSpPr/>
          <p:nvPr/>
        </p:nvSpPr>
        <p:spPr>
          <a:xfrm>
            <a:off x="8321040" y="3337560"/>
            <a:ext cx="201168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ode anchor:route"/>
          <p:cNvSpPr/>
          <p:nvPr/>
        </p:nvSpPr>
        <p:spPr>
          <a:xfrm>
            <a:off x="4480560" y="2651760"/>
            <a:ext cx="2743200" cy="5486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Relationship:request0:0"/>
          <p:cNvCxnSpPr>
            <a:stCxn id="15" idx="3"/>
            <a:endCxn id="16" idx="1"/>
          </p:cNvCxnSpPr>
          <p:nvPr/>
        </p:nvCxnSpPr>
        <p:spPr>
          <a:xfrm>
            <a:off x="2835553" y="3657599"/>
            <a:ext cx="182697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equest0:source"/>
          <p:cNvSpPr/>
          <p:nvPr/>
        </p:nvSpPr>
        <p:spPr>
          <a:xfrm>
            <a:off x="283372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equest0:target"/>
          <p:cNvSpPr/>
          <p:nvPr/>
        </p:nvSpPr>
        <p:spPr>
          <a:xfrm>
            <a:off x="466252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equest0"/>
          <p:cNvSpPr txBox="1"/>
          <p:nvPr/>
        </p:nvSpPr>
        <p:spPr>
          <a:xfrm>
            <a:off x="2834640" y="3200400"/>
            <a:ext cx="1828799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request</a:t>
            </a:r>
          </a:p>
        </p:txBody>
      </p:sp>
      <p:cxnSp>
        <p:nvCxnSpPr>
          <p:cNvPr id="18" name="Relationship:return0:0"/>
          <p:cNvCxnSpPr>
            <a:stCxn id="19" idx="3"/>
            <a:endCxn id="20" idx="1"/>
          </p:cNvCxnSpPr>
          <p:nvPr/>
        </p:nvCxnSpPr>
        <p:spPr>
          <a:xfrm flipH="1">
            <a:off x="2833725" y="4206239"/>
            <a:ext cx="1830628" cy="0"/>
          </a:xfrm>
          <a:prstGeom prst="line">
            <a:avLst/>
          </a:prstGeom>
          <a:ln w="17780">
            <a:solidFill>
              <a:srgbClr val="2C596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eturn0:source"/>
          <p:cNvSpPr/>
          <p:nvPr/>
        </p:nvSpPr>
        <p:spPr>
          <a:xfrm>
            <a:off x="466252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eturn0:target"/>
          <p:cNvSpPr/>
          <p:nvPr/>
        </p:nvSpPr>
        <p:spPr>
          <a:xfrm>
            <a:off x="283372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eturn0"/>
          <p:cNvSpPr txBox="1"/>
          <p:nvPr/>
        </p:nvSpPr>
        <p:spPr>
          <a:xfrm>
            <a:off x="2834640" y="4709160"/>
            <a:ext cx="1828799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associated return</a:t>
            </a:r>
          </a:p>
        </p:txBody>
      </p:sp>
      <p:cxnSp>
        <p:nvCxnSpPr>
          <p:cNvPr id="22" name="Relationship:request1:0"/>
          <p:cNvCxnSpPr>
            <a:stCxn id="23" idx="3"/>
            <a:endCxn id="24" idx="1"/>
          </p:cNvCxnSpPr>
          <p:nvPr/>
        </p:nvCxnSpPr>
        <p:spPr>
          <a:xfrm>
            <a:off x="6676033" y="3657599"/>
            <a:ext cx="164409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ge port:request1:source"/>
          <p:cNvSpPr/>
          <p:nvPr/>
        </p:nvSpPr>
        <p:spPr>
          <a:xfrm>
            <a:off x="667420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ge port:request1:target"/>
          <p:cNvSpPr/>
          <p:nvPr/>
        </p:nvSpPr>
        <p:spPr>
          <a:xfrm>
            <a:off x="8320125" y="36566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ge label:request1"/>
          <p:cNvSpPr txBox="1"/>
          <p:nvPr/>
        </p:nvSpPr>
        <p:spPr>
          <a:xfrm>
            <a:off x="6675120" y="3200400"/>
            <a:ext cx="1645919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request</a:t>
            </a:r>
          </a:p>
        </p:txBody>
      </p:sp>
      <p:cxnSp>
        <p:nvCxnSpPr>
          <p:cNvPr id="26" name="Relationship:return1:0"/>
          <p:cNvCxnSpPr>
            <a:stCxn id="27" idx="3"/>
            <a:endCxn id="28" idx="1"/>
          </p:cNvCxnSpPr>
          <p:nvPr/>
        </p:nvCxnSpPr>
        <p:spPr>
          <a:xfrm flipH="1">
            <a:off x="6674205" y="4206239"/>
            <a:ext cx="1647748" cy="0"/>
          </a:xfrm>
          <a:prstGeom prst="line">
            <a:avLst/>
          </a:prstGeom>
          <a:ln w="17780">
            <a:solidFill>
              <a:srgbClr val="2C596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 port:return1:source"/>
          <p:cNvSpPr/>
          <p:nvPr/>
        </p:nvSpPr>
        <p:spPr>
          <a:xfrm>
            <a:off x="832012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ge port:return1:target"/>
          <p:cNvSpPr/>
          <p:nvPr/>
        </p:nvSpPr>
        <p:spPr>
          <a:xfrm>
            <a:off x="6674205" y="42053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ge label:return1"/>
          <p:cNvSpPr txBox="1"/>
          <p:nvPr/>
        </p:nvSpPr>
        <p:spPr>
          <a:xfrm>
            <a:off x="6675120" y="4709160"/>
            <a:ext cx="1645919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associated return</a:t>
            </a:r>
          </a:p>
        </p:txBody>
      </p:sp>
      <p:cxnSp>
        <p:nvCxnSpPr>
          <p:cNvPr id="30" name="Relationship:route-association:0"/>
          <p:cNvCxnSpPr>
            <a:stCxn id="31" idx="3"/>
            <a:endCxn id="32" idx="1"/>
          </p:cNvCxnSpPr>
          <p:nvPr/>
        </p:nvCxnSpPr>
        <p:spPr>
          <a:xfrm flipH="1">
            <a:off x="5851245" y="3200399"/>
            <a:ext cx="1828" cy="13716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ge port:route-association:source"/>
          <p:cNvSpPr/>
          <p:nvPr/>
        </p:nvSpPr>
        <p:spPr>
          <a:xfrm>
            <a:off x="5851245" y="319948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ge port:route-association:target"/>
          <p:cNvSpPr/>
          <p:nvPr/>
        </p:nvSpPr>
        <p:spPr>
          <a:xfrm>
            <a:off x="5851245" y="333664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ge label:route-association"/>
          <p:cNvSpPr txBox="1"/>
          <p:nvPr/>
        </p:nvSpPr>
        <p:spPr>
          <a:xfrm>
            <a:off x="4480560" y="2971800"/>
            <a:ext cx="182880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route next hop</a:t>
            </a:r>
          </a:p>
        </p:txBody>
      </p:sp>
      <p:pic>
        <p:nvPicPr>
          <p:cNvPr id="34" name="OCI icon:outsid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570" y="3419856"/>
            <a:ext cx="318459" cy="566928"/>
          </a:xfrm>
          <a:prstGeom prst="rect">
            <a:avLst/>
          </a:prstGeom>
        </p:spPr>
      </p:pic>
      <p:sp>
        <p:nvSpPr>
          <p:cNvPr id="35" name="Node label:outside"/>
          <p:cNvSpPr txBox="1"/>
          <p:nvPr/>
        </p:nvSpPr>
        <p:spPr>
          <a:xfrm>
            <a:off x="822960" y="4069080"/>
            <a:ext cx="201168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Internet client</a:t>
            </a:r>
          </a:p>
        </p:txBody>
      </p:sp>
      <p:pic>
        <p:nvPicPr>
          <p:cNvPr id="36" name="OCI icon:gateway" descr="internet-gateway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050" y="3419856"/>
            <a:ext cx="318459" cy="566928"/>
          </a:xfrm>
          <a:prstGeom prst="rect">
            <a:avLst/>
          </a:prstGeom>
        </p:spPr>
      </p:pic>
      <p:sp>
        <p:nvSpPr>
          <p:cNvPr id="37" name="Node label:gateway"/>
          <p:cNvSpPr txBox="1"/>
          <p:nvPr/>
        </p:nvSpPr>
        <p:spPr>
          <a:xfrm>
            <a:off x="4663440" y="4069080"/>
            <a:ext cx="201168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IGW</a:t>
            </a:r>
          </a:p>
        </p:txBody>
      </p:sp>
      <p:pic>
        <p:nvPicPr>
          <p:cNvPr id="38" name="OCI icon:vm" descr="comput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7650" y="3419856"/>
            <a:ext cx="318459" cy="566928"/>
          </a:xfrm>
          <a:prstGeom prst="rect">
            <a:avLst/>
          </a:prstGeom>
        </p:spPr>
      </p:pic>
      <p:sp>
        <p:nvSpPr>
          <p:cNvPr id="39" name="Node label:vm"/>
          <p:cNvSpPr txBox="1"/>
          <p:nvPr/>
        </p:nvSpPr>
        <p:spPr>
          <a:xfrm>
            <a:off x="8321040" y="4069080"/>
            <a:ext cx="201168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VNIC + public IP</a:t>
            </a:r>
          </a:p>
        </p:txBody>
      </p:sp>
      <p:sp>
        <p:nvSpPr>
          <p:cNvPr id="40" name="Non-service concept:route"/>
          <p:cNvSpPr txBox="1"/>
          <p:nvPr/>
        </p:nvSpPr>
        <p:spPr>
          <a:xfrm>
            <a:off x="4480560" y="2761488"/>
            <a:ext cx="274320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0.0.0.0/0 -&gt; IGW</a:t>
            </a:r>
          </a:p>
        </p:txBody>
      </p:sp>
      <p:sp>
        <p:nvSpPr>
          <p:cNvPr id="4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Public IP + Internet route + security allow rules are required.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4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Public IP + Internet route + security allow rules are required.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public IP·인터넷 route·보안 함께 필요; IGW만으로 접근 안 됨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