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Long-running Connections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Long-running Connections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Node anchor:lane0-source"/>
          <p:cNvSpPr/>
          <p:nvPr/>
        </p:nvSpPr>
        <p:spPr>
          <a:xfrm>
            <a:off x="9144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de anchor:lane0-target"/>
          <p:cNvSpPr/>
          <p:nvPr/>
        </p:nvSpPr>
        <p:spPr>
          <a:xfrm>
            <a:off x="91440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de anchor:lane1-source"/>
          <p:cNvSpPr/>
          <p:nvPr/>
        </p:nvSpPr>
        <p:spPr>
          <a:xfrm>
            <a:off x="9144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ode anchor:lane1-target"/>
          <p:cNvSpPr/>
          <p:nvPr/>
        </p:nvSpPr>
        <p:spPr>
          <a:xfrm>
            <a:off x="91440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ode anchor:lane2-source"/>
          <p:cNvSpPr/>
          <p:nvPr/>
        </p:nvSpPr>
        <p:spPr>
          <a:xfrm>
            <a:off x="9144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ode anchor:lane2-target"/>
          <p:cNvSpPr/>
          <p:nvPr/>
        </p:nvSpPr>
        <p:spPr>
          <a:xfrm>
            <a:off x="91440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Relationship:r0:0"/>
          <p:cNvCxnSpPr>
            <a:stCxn id="11" idx="3"/>
            <a:endCxn id="12" idx="1"/>
          </p:cNvCxnSpPr>
          <p:nvPr/>
        </p:nvCxnSpPr>
        <p:spPr>
          <a:xfrm>
            <a:off x="3018433" y="23774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dge port:r0:source"/>
          <p:cNvSpPr/>
          <p:nvPr/>
        </p:nvSpPr>
        <p:spPr>
          <a:xfrm>
            <a:off x="301660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ge port:r0:target"/>
          <p:cNvSpPr/>
          <p:nvPr/>
        </p:nvSpPr>
        <p:spPr>
          <a:xfrm>
            <a:off x="914308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ge label:r0"/>
          <p:cNvSpPr txBox="1"/>
          <p:nvPr/>
        </p:nvSpPr>
        <p:spPr>
          <a:xfrm>
            <a:off x="3337560" y="18013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TCP connection</a:t>
            </a:r>
          </a:p>
        </p:txBody>
      </p:sp>
      <p:cxnSp>
        <p:nvCxnSpPr>
          <p:cNvPr id="14" name="Relationship:r1:0"/>
          <p:cNvCxnSpPr>
            <a:stCxn id="15" idx="3"/>
            <a:endCxn id="16" idx="1"/>
          </p:cNvCxnSpPr>
          <p:nvPr/>
        </p:nvCxnSpPr>
        <p:spPr>
          <a:xfrm>
            <a:off x="3018433" y="37490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dge port:r1:source"/>
          <p:cNvSpPr/>
          <p:nvPr/>
        </p:nvSpPr>
        <p:spPr>
          <a:xfrm>
            <a:off x="301660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ge port:r1:target"/>
          <p:cNvSpPr/>
          <p:nvPr/>
        </p:nvSpPr>
        <p:spPr>
          <a:xfrm>
            <a:off x="914308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ge label:r1"/>
          <p:cNvSpPr txBox="1"/>
          <p:nvPr/>
        </p:nvSpPr>
        <p:spPr>
          <a:xfrm>
            <a:off x="3337560" y="31729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backend flow</a:t>
            </a:r>
          </a:p>
        </p:txBody>
      </p:sp>
      <p:cxnSp>
        <p:nvCxnSpPr>
          <p:cNvPr id="18" name="Relationship:r2:0"/>
          <p:cNvCxnSpPr>
            <a:stCxn id="19" idx="3"/>
            <a:endCxn id="20" idx="1"/>
          </p:cNvCxnSpPr>
          <p:nvPr/>
        </p:nvCxnSpPr>
        <p:spPr>
          <a:xfrm>
            <a:off x="3018433" y="51206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Edge port:r2:source"/>
          <p:cNvSpPr/>
          <p:nvPr/>
        </p:nvSpPr>
        <p:spPr>
          <a:xfrm>
            <a:off x="301660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ge port:r2:target"/>
          <p:cNvSpPr/>
          <p:nvPr/>
        </p:nvSpPr>
        <p:spPr>
          <a:xfrm>
            <a:off x="914308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ge label:r2"/>
          <p:cNvSpPr txBox="1"/>
          <p:nvPr/>
        </p:nvSpPr>
        <p:spPr>
          <a:xfrm>
            <a:off x="3337560" y="45445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evaluate connection idle state</a:t>
            </a:r>
          </a:p>
        </p:txBody>
      </p:sp>
      <p:pic>
        <p:nvPicPr>
          <p:cNvPr id="22" name="OCI icon:lane0-source" descr="user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1865376"/>
            <a:ext cx="318459" cy="566928"/>
          </a:xfrm>
          <a:prstGeom prst="rect">
            <a:avLst/>
          </a:prstGeom>
        </p:spPr>
      </p:pic>
      <p:sp>
        <p:nvSpPr>
          <p:cNvPr id="23" name="Node label:lane0-source"/>
          <p:cNvSpPr txBox="1"/>
          <p:nvPr/>
        </p:nvSpPr>
        <p:spPr>
          <a:xfrm>
            <a:off x="9144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TCP client</a:t>
            </a:r>
          </a:p>
        </p:txBody>
      </p:sp>
      <p:pic>
        <p:nvPicPr>
          <p:cNvPr id="24" name="OCI icon:lane0-target" descr="load-balancer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330" y="1865376"/>
            <a:ext cx="318459" cy="566928"/>
          </a:xfrm>
          <a:prstGeom prst="rect">
            <a:avLst/>
          </a:prstGeom>
        </p:spPr>
      </p:pic>
      <p:sp>
        <p:nvSpPr>
          <p:cNvPr id="25" name="Node label:lane0-target"/>
          <p:cNvSpPr txBox="1"/>
          <p:nvPr/>
        </p:nvSpPr>
        <p:spPr>
          <a:xfrm>
            <a:off x="91440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NLB connection</a:t>
            </a:r>
          </a:p>
        </p:txBody>
      </p:sp>
      <p:pic>
        <p:nvPicPr>
          <p:cNvPr id="26" name="OCI icon:lane1-source" descr="load-balancer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730" y="3236976"/>
            <a:ext cx="318459" cy="566928"/>
          </a:xfrm>
          <a:prstGeom prst="rect">
            <a:avLst/>
          </a:prstGeom>
        </p:spPr>
      </p:pic>
      <p:sp>
        <p:nvSpPr>
          <p:cNvPr id="27" name="Node label:lane1-source"/>
          <p:cNvSpPr txBox="1"/>
          <p:nvPr/>
        </p:nvSpPr>
        <p:spPr>
          <a:xfrm>
            <a:off x="9144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NLB connection</a:t>
            </a:r>
          </a:p>
        </p:txBody>
      </p:sp>
      <p:pic>
        <p:nvPicPr>
          <p:cNvPr id="28" name="OCI icon:lane1-target" descr="compute.offici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6330" y="3236976"/>
            <a:ext cx="318459" cy="566928"/>
          </a:xfrm>
          <a:prstGeom prst="rect">
            <a:avLst/>
          </a:prstGeom>
        </p:spPr>
      </p:pic>
      <p:sp>
        <p:nvSpPr>
          <p:cNvPr id="29" name="Node label:lane1-target"/>
          <p:cNvSpPr txBox="1"/>
          <p:nvPr/>
        </p:nvSpPr>
        <p:spPr>
          <a:xfrm>
            <a:off x="91440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Backend</a:t>
            </a:r>
          </a:p>
        </p:txBody>
      </p:sp>
      <p:pic>
        <p:nvPicPr>
          <p:cNvPr id="30" name="OCI icon:lane2-source" descr="compute.offici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6730" y="4608576"/>
            <a:ext cx="318459" cy="566928"/>
          </a:xfrm>
          <a:prstGeom prst="rect">
            <a:avLst/>
          </a:prstGeom>
        </p:spPr>
      </p:pic>
      <p:sp>
        <p:nvSpPr>
          <p:cNvPr id="31" name="Node label:lane2-source"/>
          <p:cNvSpPr txBox="1"/>
          <p:nvPr/>
        </p:nvSpPr>
        <p:spPr>
          <a:xfrm>
            <a:off x="914400" y="52578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Backend</a:t>
            </a:r>
          </a:p>
        </p:txBody>
      </p:sp>
      <p:sp>
        <p:nvSpPr>
          <p:cNvPr id="32" name="Non-service concept:lane2-target"/>
          <p:cNvSpPr txBox="1"/>
          <p:nvPr/>
        </p:nvSpPr>
        <p:spPr>
          <a:xfrm>
            <a:off x="9144000" y="4636008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Idle and active timers</a:t>
            </a:r>
          </a:p>
        </p:txBody>
      </p:sp>
      <p:sp>
        <p:nvSpPr>
          <p:cNvPr id="33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Idle timeout versus active traffic. Management / concept arrows unless explicitly marked traffic.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34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Idle timeout versus active traffic. Management / concept arrows unless explicitly marked traffic.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NLB uses disclosed Load Balancer-family toolkit symbol; not an HTTP LB / WAF association.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Repeated labels denote the same role in separate relationship views, not extra resources.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상태별 timeout; 무기한 연결·무제한 부하 금지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TCP client uses Oracle Load Balancer family icon; not an exact NLB asset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NLB connection uses Oracle Load Balancer family icon; not an exact NLB asset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Backend uses Oracle Load Balancer family icon; not an exact NLB asset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https://docs.oracle.com/en-us/iaas/Content/NetworkLoadBalancer/overview.htm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https://docs.oracle.com/en-us/iaas/Content/NetworkLoadBalancer/introduction.htm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