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Well-Architected Framework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Well-Architected Framework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view"/>
          <p:cNvSpPr/>
          <p:nvPr/>
        </p:nvSpPr>
        <p:spPr>
          <a:xfrm>
            <a:off x="594360" y="1645920"/>
            <a:ext cx="10972800" cy="429768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view"/>
          <p:cNvSpPr txBox="1"/>
          <p:nvPr/>
        </p:nvSpPr>
        <p:spPr>
          <a:xfrm>
            <a:off x="704088" y="1755648"/>
            <a:ext cx="1075334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Well-Architected: five review pillars</a:t>
            </a:r>
          </a:p>
        </p:txBody>
      </p:sp>
      <p:sp>
        <p:nvSpPr>
          <p:cNvPr id="6" name="Node anchor:security"/>
          <p:cNvSpPr/>
          <p:nvPr/>
        </p:nvSpPr>
        <p:spPr>
          <a:xfrm>
            <a:off x="914400" y="2514600"/>
            <a:ext cx="1874519" cy="14630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reliability"/>
          <p:cNvSpPr/>
          <p:nvPr/>
        </p:nvSpPr>
        <p:spPr>
          <a:xfrm>
            <a:off x="3017520" y="2514600"/>
            <a:ext cx="1874519" cy="14630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performance"/>
          <p:cNvSpPr/>
          <p:nvPr/>
        </p:nvSpPr>
        <p:spPr>
          <a:xfrm>
            <a:off x="5120640" y="2514600"/>
            <a:ext cx="1874519" cy="14630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operations"/>
          <p:cNvSpPr/>
          <p:nvPr/>
        </p:nvSpPr>
        <p:spPr>
          <a:xfrm>
            <a:off x="7223760" y="2514600"/>
            <a:ext cx="1874519" cy="14630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ode anchor:distributed"/>
          <p:cNvSpPr/>
          <p:nvPr/>
        </p:nvSpPr>
        <p:spPr>
          <a:xfrm>
            <a:off x="9326880" y="2514600"/>
            <a:ext cx="1874519" cy="14630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 anchor:decision"/>
          <p:cNvSpPr/>
          <p:nvPr/>
        </p:nvSpPr>
        <p:spPr>
          <a:xfrm>
            <a:off x="4251960" y="4617720"/>
            <a:ext cx="3703320" cy="59436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Relationship:review0:0"/>
          <p:cNvCxnSpPr>
            <a:stCxn id="13" idx="3"/>
          </p:cNvCxnSpPr>
          <p:nvPr/>
        </p:nvCxnSpPr>
        <p:spPr>
          <a:xfrm flipH="1">
            <a:off x="1851660" y="3977639"/>
            <a:ext cx="913" cy="3200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eview0:source"/>
          <p:cNvSpPr/>
          <p:nvPr/>
        </p:nvSpPr>
        <p:spPr>
          <a:xfrm>
            <a:off x="1850745" y="3976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Relationship:review0:1"/>
          <p:cNvCxnSpPr/>
          <p:nvPr/>
        </p:nvCxnSpPr>
        <p:spPr>
          <a:xfrm>
            <a:off x="1851660" y="4297680"/>
            <a:ext cx="425196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lationship:review0:2"/>
          <p:cNvCxnSpPr>
            <a:endCxn id="16" idx="1"/>
          </p:cNvCxnSpPr>
          <p:nvPr/>
        </p:nvCxnSpPr>
        <p:spPr>
          <a:xfrm flipH="1">
            <a:off x="6102705" y="4297680"/>
            <a:ext cx="915" cy="3200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dge port:review0:target"/>
          <p:cNvSpPr/>
          <p:nvPr/>
        </p:nvSpPr>
        <p:spPr>
          <a:xfrm>
            <a:off x="6102705" y="46168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Relationship:review1:0"/>
          <p:cNvCxnSpPr>
            <a:stCxn id="18" idx="3"/>
          </p:cNvCxnSpPr>
          <p:nvPr/>
        </p:nvCxnSpPr>
        <p:spPr>
          <a:xfrm flipH="1">
            <a:off x="3954780" y="3977639"/>
            <a:ext cx="913" cy="3200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dge port:review1:source"/>
          <p:cNvSpPr/>
          <p:nvPr/>
        </p:nvSpPr>
        <p:spPr>
          <a:xfrm>
            <a:off x="3953865" y="3976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Relationship:review1:1"/>
          <p:cNvCxnSpPr/>
          <p:nvPr/>
        </p:nvCxnSpPr>
        <p:spPr>
          <a:xfrm>
            <a:off x="3954780" y="4297680"/>
            <a:ext cx="214884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lationship:review1:2"/>
          <p:cNvCxnSpPr>
            <a:endCxn id="21" idx="1"/>
          </p:cNvCxnSpPr>
          <p:nvPr/>
        </p:nvCxnSpPr>
        <p:spPr>
          <a:xfrm flipH="1">
            <a:off x="6102705" y="4297680"/>
            <a:ext cx="915" cy="3200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dge port:review1:target"/>
          <p:cNvSpPr/>
          <p:nvPr/>
        </p:nvSpPr>
        <p:spPr>
          <a:xfrm>
            <a:off x="6102705" y="46168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Relationship:review2:0"/>
          <p:cNvCxnSpPr>
            <a:stCxn id="23" idx="3"/>
          </p:cNvCxnSpPr>
          <p:nvPr/>
        </p:nvCxnSpPr>
        <p:spPr>
          <a:xfrm flipH="1">
            <a:off x="6057900" y="3977639"/>
            <a:ext cx="913" cy="3200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dge port:review2:source"/>
          <p:cNvSpPr/>
          <p:nvPr/>
        </p:nvSpPr>
        <p:spPr>
          <a:xfrm>
            <a:off x="6056985" y="3976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Relationship:review2:1"/>
          <p:cNvCxnSpPr/>
          <p:nvPr/>
        </p:nvCxnSpPr>
        <p:spPr>
          <a:xfrm>
            <a:off x="6057900" y="4297680"/>
            <a:ext cx="4572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lationship:review2:2"/>
          <p:cNvCxnSpPr>
            <a:endCxn id="26" idx="1"/>
          </p:cNvCxnSpPr>
          <p:nvPr/>
        </p:nvCxnSpPr>
        <p:spPr>
          <a:xfrm flipH="1">
            <a:off x="6102705" y="4297680"/>
            <a:ext cx="915" cy="3200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dge port:review2:target"/>
          <p:cNvSpPr/>
          <p:nvPr/>
        </p:nvSpPr>
        <p:spPr>
          <a:xfrm>
            <a:off x="6102705" y="46168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Relationship:review3:0"/>
          <p:cNvCxnSpPr>
            <a:stCxn id="28" idx="3"/>
          </p:cNvCxnSpPr>
          <p:nvPr/>
        </p:nvCxnSpPr>
        <p:spPr>
          <a:xfrm flipH="1">
            <a:off x="8161020" y="3977639"/>
            <a:ext cx="913" cy="3200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dge port:review3:source"/>
          <p:cNvSpPr/>
          <p:nvPr/>
        </p:nvSpPr>
        <p:spPr>
          <a:xfrm>
            <a:off x="8160105" y="3976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Relationship:review3:1"/>
          <p:cNvCxnSpPr/>
          <p:nvPr/>
        </p:nvCxnSpPr>
        <p:spPr>
          <a:xfrm flipH="1">
            <a:off x="6103620" y="4297680"/>
            <a:ext cx="205740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ationship:review3:2"/>
          <p:cNvCxnSpPr>
            <a:endCxn id="31" idx="1"/>
          </p:cNvCxnSpPr>
          <p:nvPr/>
        </p:nvCxnSpPr>
        <p:spPr>
          <a:xfrm flipH="1">
            <a:off x="6102705" y="4297680"/>
            <a:ext cx="915" cy="3200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dge port:review3:target"/>
          <p:cNvSpPr/>
          <p:nvPr/>
        </p:nvSpPr>
        <p:spPr>
          <a:xfrm>
            <a:off x="6102705" y="46168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Relationship:review4:0"/>
          <p:cNvCxnSpPr>
            <a:stCxn id="33" idx="3"/>
          </p:cNvCxnSpPr>
          <p:nvPr/>
        </p:nvCxnSpPr>
        <p:spPr>
          <a:xfrm flipH="1">
            <a:off x="10264140" y="3977639"/>
            <a:ext cx="913" cy="320041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dge port:review4:source"/>
          <p:cNvSpPr/>
          <p:nvPr/>
        </p:nvSpPr>
        <p:spPr>
          <a:xfrm>
            <a:off x="10263225" y="3976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Relationship:review4:1"/>
          <p:cNvCxnSpPr/>
          <p:nvPr/>
        </p:nvCxnSpPr>
        <p:spPr>
          <a:xfrm flipH="1">
            <a:off x="6103620" y="4297680"/>
            <a:ext cx="4160520" cy="0"/>
          </a:xfrm>
          <a:prstGeom prst="line">
            <a:avLst/>
          </a:prstGeom>
          <a:ln w="17780">
            <a:solidFill>
              <a:srgbClr val="2C5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ationship:review4:2"/>
          <p:cNvCxnSpPr>
            <a:endCxn id="36" idx="1"/>
          </p:cNvCxnSpPr>
          <p:nvPr/>
        </p:nvCxnSpPr>
        <p:spPr>
          <a:xfrm flipH="1">
            <a:off x="6102705" y="4297680"/>
            <a:ext cx="915" cy="320039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dge port:review4:target"/>
          <p:cNvSpPr/>
          <p:nvPr/>
        </p:nvSpPr>
        <p:spPr>
          <a:xfrm>
            <a:off x="6102705" y="461680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OCI icon:security" descr="iam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30" y="2596896"/>
            <a:ext cx="318459" cy="566928"/>
          </a:xfrm>
          <a:prstGeom prst="rect">
            <a:avLst/>
          </a:prstGeom>
        </p:spPr>
      </p:pic>
      <p:sp>
        <p:nvSpPr>
          <p:cNvPr id="38" name="Node label:security"/>
          <p:cNvSpPr txBox="1"/>
          <p:nvPr/>
        </p:nvSpPr>
        <p:spPr>
          <a:xfrm>
            <a:off x="914400" y="3246120"/>
            <a:ext cx="1874519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Security and</a:t>
            </a:r>
          </a:p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compliance</a:t>
            </a:r>
          </a:p>
        </p:txBody>
      </p:sp>
      <p:pic>
        <p:nvPicPr>
          <p:cNvPr id="39" name="OCI icon:reliability" descr="back-up-restor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550" y="2596896"/>
            <a:ext cx="318459" cy="566928"/>
          </a:xfrm>
          <a:prstGeom prst="rect">
            <a:avLst/>
          </a:prstGeom>
        </p:spPr>
      </p:pic>
      <p:sp>
        <p:nvSpPr>
          <p:cNvPr id="40" name="Node label:reliability"/>
          <p:cNvSpPr txBox="1"/>
          <p:nvPr/>
        </p:nvSpPr>
        <p:spPr>
          <a:xfrm>
            <a:off x="3017520" y="3246120"/>
            <a:ext cx="1874519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Reliability and</a:t>
            </a:r>
          </a:p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resilience</a:t>
            </a:r>
          </a:p>
        </p:txBody>
      </p:sp>
      <p:pic>
        <p:nvPicPr>
          <p:cNvPr id="41" name="OCI icon:performance" descr="cloud-advisor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670" y="2596896"/>
            <a:ext cx="318459" cy="566928"/>
          </a:xfrm>
          <a:prstGeom prst="rect">
            <a:avLst/>
          </a:prstGeom>
        </p:spPr>
      </p:pic>
      <p:sp>
        <p:nvSpPr>
          <p:cNvPr id="42" name="Node label:performance"/>
          <p:cNvSpPr txBox="1"/>
          <p:nvPr/>
        </p:nvSpPr>
        <p:spPr>
          <a:xfrm>
            <a:off x="5120640" y="3246120"/>
            <a:ext cx="1874519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Performance and</a:t>
            </a:r>
          </a:p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cost optimization</a:t>
            </a:r>
          </a:p>
        </p:txBody>
      </p:sp>
      <p:pic>
        <p:nvPicPr>
          <p:cNvPr id="43" name="OCI icon:operations" descr="monitoring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790" y="2596896"/>
            <a:ext cx="318459" cy="566928"/>
          </a:xfrm>
          <a:prstGeom prst="rect">
            <a:avLst/>
          </a:prstGeom>
        </p:spPr>
      </p:pic>
      <p:sp>
        <p:nvSpPr>
          <p:cNvPr id="44" name="Node label:operations"/>
          <p:cNvSpPr txBox="1"/>
          <p:nvPr/>
        </p:nvSpPr>
        <p:spPr>
          <a:xfrm>
            <a:off x="7223760" y="3246120"/>
            <a:ext cx="1874519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Operational</a:t>
            </a:r>
          </a:p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efficiency</a:t>
            </a:r>
          </a:p>
        </p:txBody>
      </p:sp>
      <p:pic>
        <p:nvPicPr>
          <p:cNvPr id="45" name="OCI icon:distributed" descr="cloud.offic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910" y="2596896"/>
            <a:ext cx="318459" cy="566928"/>
          </a:xfrm>
          <a:prstGeom prst="rect">
            <a:avLst/>
          </a:prstGeom>
        </p:spPr>
      </p:pic>
      <p:sp>
        <p:nvSpPr>
          <p:cNvPr id="46" name="Node label:distributed"/>
          <p:cNvSpPr txBox="1"/>
          <p:nvPr/>
        </p:nvSpPr>
        <p:spPr>
          <a:xfrm>
            <a:off x="9326880" y="3246120"/>
            <a:ext cx="1874519" cy="7315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Distributed</a:t>
            </a:r>
          </a:p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cloud</a:t>
            </a:r>
          </a:p>
        </p:txBody>
      </p:sp>
      <p:sp>
        <p:nvSpPr>
          <p:cNvPr id="47" name="Non-service concept:decision"/>
          <p:cNvSpPr txBox="1"/>
          <p:nvPr/>
        </p:nvSpPr>
        <p:spPr>
          <a:xfrm>
            <a:off x="4251960" y="4727448"/>
            <a:ext cx="3703320" cy="48463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Architecture decision / trade-offs</a:t>
            </a:r>
          </a:p>
        </p:txBody>
      </p:sp>
      <p:sp>
        <p:nvSpPr>
          <p:cNvPr id="48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Icons are service-family examples for review pillars, not services required in every design.</a:t>
            </a:r>
          </a:p>
        </p:txBody>
      </p:sp>
      <p:sp>
        <p:nvSpPr>
          <p:cNvPr id="49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Icons are service-family examples for review pillars, not services required in every design.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Distributed cloud 포함 다섯 관점 검토; 아이콘은 관점 사례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https://docs.oracle.com/en/solutions/oci-best-practices/index.html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