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acle cover logo" descr="oracl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13577"/>
            <a:ext cx="1280160" cy="270125"/>
          </a:xfrm>
          <a:prstGeom prst="rect">
            <a:avLst/>
          </a:prstGeom>
        </p:spPr>
      </p:pic>
      <p:sp>
        <p:nvSpPr>
          <p:cNvPr id="3" name="Cover title"/>
          <p:cNvSpPr txBox="1"/>
          <p:nvPr/>
        </p:nvSpPr>
        <p:spPr>
          <a:xfrm>
            <a:off x="731520" y="2011680"/>
            <a:ext cx="10789920" cy="1371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3200" b="1">
                <a:solidFill>
                  <a:srgbClr val="312D2A"/>
                </a:solidFill>
                <a:latin typeface="Malgun Gothic"/>
              </a:defRPr>
            </a:pPr>
            <a:r>
              <a:t>Web Application Firewall (WAF)</a:t>
            </a:r>
          </a:p>
        </p:txBody>
      </p:sp>
      <p:sp>
        <p:nvSpPr>
          <p:cNvPr id="4" name="Cover subtitle"/>
          <p:cNvSpPr txBox="1"/>
          <p:nvPr/>
        </p:nvSpPr>
        <p:spPr>
          <a:xfrm>
            <a:off x="731520" y="3749039"/>
            <a:ext cx="1078992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000" b="0">
                <a:solidFill>
                  <a:srgbClr val="312D2A"/>
                </a:solidFill>
                <a:latin typeface="Malgun Gothic"/>
              </a:defRPr>
            </a:pPr>
            <a:r>
              <a:t>Illustrative OCI learning diagram | No cloud execution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iagram title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Web Application Firewall (WAF)</a:t>
            </a:r>
          </a:p>
        </p:txBody>
      </p:sp>
      <p:sp>
        <p:nvSpPr>
          <p:cNvPr id="3" name="Diagram classification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AE562C"/>
                </a:solidFill>
                <a:latin typeface="Malgun Gothic"/>
              </a:defRPr>
            </a:pPr>
            <a:r>
              <a:t>ILLUSTRATIVE LEARNING MODEL | NOT AN AS-BUILT DEPLOYMENT</a:t>
            </a:r>
          </a:p>
        </p:txBody>
      </p:sp>
      <p:sp>
        <p:nvSpPr>
          <p:cNvPr id="4" name="Semantic group:region"/>
          <p:cNvSpPr/>
          <p:nvPr/>
        </p:nvSpPr>
        <p:spPr>
          <a:xfrm>
            <a:off x="2834640" y="1508760"/>
            <a:ext cx="8732520" cy="4434840"/>
          </a:xfrm>
          <a:prstGeom prst="rect">
            <a:avLst/>
          </a:prstGeom>
          <a:solidFill>
            <a:srgbClr val="F5F4F2"/>
          </a:solidFill>
          <a:ln w="12700">
            <a:solidFill>
              <a:srgbClr val="9E98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Group label:region"/>
          <p:cNvSpPr txBox="1"/>
          <p:nvPr/>
        </p:nvSpPr>
        <p:spPr>
          <a:xfrm>
            <a:off x="2944368" y="1618488"/>
            <a:ext cx="8513064" cy="36576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300" b="1">
                <a:solidFill>
                  <a:srgbClr val="312D2A"/>
                </a:solidFill>
                <a:latin typeface="Malgun Gothic"/>
              </a:defRPr>
            </a:pPr>
            <a:r>
              <a:t>OCI Region</a:t>
            </a:r>
          </a:p>
        </p:txBody>
      </p:sp>
      <p:sp>
        <p:nvSpPr>
          <p:cNvPr id="6" name="Semantic group:vcn"/>
          <p:cNvSpPr/>
          <p:nvPr/>
        </p:nvSpPr>
        <p:spPr>
          <a:xfrm>
            <a:off x="3200400" y="3108960"/>
            <a:ext cx="8046720" cy="2560320"/>
          </a:xfrm>
          <a:prstGeom prst="rect">
            <a:avLst/>
          </a:prstGeom>
          <a:solidFill>
            <a:srgbClr val="F5F4F2"/>
          </a:solidFill>
          <a:ln w="12700">
            <a:solidFill>
              <a:srgbClr val="AE56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Group label:vcn"/>
          <p:cNvSpPr txBox="1"/>
          <p:nvPr/>
        </p:nvSpPr>
        <p:spPr>
          <a:xfrm>
            <a:off x="3310128" y="3218688"/>
            <a:ext cx="7827264" cy="36576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300" b="1">
                <a:solidFill>
                  <a:srgbClr val="312D2A"/>
                </a:solidFill>
                <a:latin typeface="Malgun Gothic"/>
              </a:defRPr>
            </a:pPr>
            <a:r>
              <a:t>Regional VCN</a:t>
            </a:r>
          </a:p>
        </p:txBody>
      </p:sp>
      <p:sp>
        <p:nvSpPr>
          <p:cNvPr id="8" name="Semantic group:public"/>
          <p:cNvSpPr/>
          <p:nvPr/>
        </p:nvSpPr>
        <p:spPr>
          <a:xfrm>
            <a:off x="3520440" y="3657600"/>
            <a:ext cx="3017520" cy="1737360"/>
          </a:xfrm>
          <a:prstGeom prst="rect">
            <a:avLst/>
          </a:prstGeom>
          <a:solidFill>
            <a:srgbClr val="F5F4F2"/>
          </a:solidFill>
          <a:ln w="12700">
            <a:solidFill>
              <a:srgbClr val="AE56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Group label:public"/>
          <p:cNvSpPr txBox="1"/>
          <p:nvPr/>
        </p:nvSpPr>
        <p:spPr>
          <a:xfrm>
            <a:off x="3630168" y="3767328"/>
            <a:ext cx="2798063" cy="36576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300" b="1">
                <a:solidFill>
                  <a:srgbClr val="312D2A"/>
                </a:solidFill>
                <a:latin typeface="Malgun Gothic"/>
              </a:defRPr>
            </a:pPr>
            <a:r>
              <a:t>Public Subnet</a:t>
            </a:r>
          </a:p>
        </p:txBody>
      </p:sp>
      <p:sp>
        <p:nvSpPr>
          <p:cNvPr id="10" name="Semantic group:private"/>
          <p:cNvSpPr/>
          <p:nvPr/>
        </p:nvSpPr>
        <p:spPr>
          <a:xfrm>
            <a:off x="7909560" y="3657600"/>
            <a:ext cx="2971800" cy="1737360"/>
          </a:xfrm>
          <a:prstGeom prst="rect">
            <a:avLst/>
          </a:prstGeom>
          <a:solidFill>
            <a:srgbClr val="F5F4F2"/>
          </a:solidFill>
          <a:ln w="12700">
            <a:solidFill>
              <a:srgbClr val="AE56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Group label:private"/>
          <p:cNvSpPr txBox="1"/>
          <p:nvPr/>
        </p:nvSpPr>
        <p:spPr>
          <a:xfrm>
            <a:off x="8019288" y="3767328"/>
            <a:ext cx="2752344" cy="36576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300" b="1">
                <a:solidFill>
                  <a:srgbClr val="312D2A"/>
                </a:solidFill>
                <a:latin typeface="Malgun Gothic"/>
              </a:defRPr>
            </a:pPr>
            <a:r>
              <a:t>Private Subnet</a:t>
            </a:r>
          </a:p>
        </p:txBody>
      </p:sp>
      <p:sp>
        <p:nvSpPr>
          <p:cNvPr id="12" name="Node anchor:user"/>
          <p:cNvSpPr/>
          <p:nvPr/>
        </p:nvSpPr>
        <p:spPr>
          <a:xfrm>
            <a:off x="731520" y="4023360"/>
            <a:ext cx="1508760" cy="118872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Node anchor:waf"/>
          <p:cNvSpPr/>
          <p:nvPr/>
        </p:nvSpPr>
        <p:spPr>
          <a:xfrm>
            <a:off x="4069080" y="1874519"/>
            <a:ext cx="2103120" cy="105156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Node anchor:lb"/>
          <p:cNvSpPr/>
          <p:nvPr/>
        </p:nvSpPr>
        <p:spPr>
          <a:xfrm>
            <a:off x="4114800" y="4069080"/>
            <a:ext cx="1828800" cy="114300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Node anchor:backend"/>
          <p:cNvSpPr/>
          <p:nvPr/>
        </p:nvSpPr>
        <p:spPr>
          <a:xfrm>
            <a:off x="8412480" y="4069080"/>
            <a:ext cx="1828800" cy="114300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Relationship:policy:0"/>
          <p:cNvCxnSpPr>
            <a:stCxn id="17" idx="3"/>
            <a:endCxn id="18" idx="1"/>
          </p:cNvCxnSpPr>
          <p:nvPr/>
        </p:nvCxnSpPr>
        <p:spPr>
          <a:xfrm flipH="1">
            <a:off x="5119725" y="2926079"/>
            <a:ext cx="1828" cy="114300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Edge port:policy:source"/>
          <p:cNvSpPr/>
          <p:nvPr/>
        </p:nvSpPr>
        <p:spPr>
          <a:xfrm>
            <a:off x="5119725" y="292516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dge port:policy:target"/>
          <p:cNvSpPr/>
          <p:nvPr/>
        </p:nvSpPr>
        <p:spPr>
          <a:xfrm>
            <a:off x="5119725" y="406816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ge label:policy"/>
          <p:cNvSpPr txBox="1"/>
          <p:nvPr/>
        </p:nvSpPr>
        <p:spPr>
          <a:xfrm>
            <a:off x="5486400" y="2423160"/>
            <a:ext cx="3108960" cy="5486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policy association / enforcement</a:t>
            </a:r>
          </a:p>
        </p:txBody>
      </p:sp>
      <p:cxnSp>
        <p:nvCxnSpPr>
          <p:cNvPr id="20" name="Relationship:http:0"/>
          <p:cNvCxnSpPr>
            <a:stCxn id="21" idx="3"/>
            <a:endCxn id="22" idx="1"/>
          </p:cNvCxnSpPr>
          <p:nvPr/>
        </p:nvCxnSpPr>
        <p:spPr>
          <a:xfrm>
            <a:off x="2241193" y="4571999"/>
            <a:ext cx="187269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Edge port:http:source"/>
          <p:cNvSpPr/>
          <p:nvPr/>
        </p:nvSpPr>
        <p:spPr>
          <a:xfrm>
            <a:off x="2239365" y="457108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ge port:http:target"/>
          <p:cNvSpPr/>
          <p:nvPr/>
        </p:nvSpPr>
        <p:spPr>
          <a:xfrm>
            <a:off x="4113885" y="457108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ge label:http"/>
          <p:cNvSpPr txBox="1"/>
          <p:nvPr/>
        </p:nvSpPr>
        <p:spPr>
          <a:xfrm>
            <a:off x="2240280" y="5074920"/>
            <a:ext cx="173736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HTTP(S) request</a:t>
            </a:r>
          </a:p>
        </p:txBody>
      </p:sp>
      <p:cxnSp>
        <p:nvCxnSpPr>
          <p:cNvPr id="24" name="Relationship:backend:0"/>
          <p:cNvCxnSpPr>
            <a:stCxn id="25" idx="3"/>
            <a:endCxn id="26" idx="1"/>
          </p:cNvCxnSpPr>
          <p:nvPr/>
        </p:nvCxnSpPr>
        <p:spPr>
          <a:xfrm>
            <a:off x="5944513" y="4571999"/>
            <a:ext cx="24670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Edge port:backend:source"/>
          <p:cNvSpPr/>
          <p:nvPr/>
        </p:nvSpPr>
        <p:spPr>
          <a:xfrm>
            <a:off x="5942685" y="457108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ge port:backend:target"/>
          <p:cNvSpPr/>
          <p:nvPr/>
        </p:nvSpPr>
        <p:spPr>
          <a:xfrm>
            <a:off x="8411565" y="457108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ge label:backend"/>
          <p:cNvSpPr txBox="1"/>
          <p:nvPr/>
        </p:nvSpPr>
        <p:spPr>
          <a:xfrm>
            <a:off x="6537960" y="3886200"/>
            <a:ext cx="1371600" cy="59436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allowed backend request</a:t>
            </a:r>
          </a:p>
        </p:txBody>
      </p:sp>
      <p:pic>
        <p:nvPicPr>
          <p:cNvPr id="28" name="OCI icon:user" descr="user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670" y="4105656"/>
            <a:ext cx="318459" cy="566928"/>
          </a:xfrm>
          <a:prstGeom prst="rect">
            <a:avLst/>
          </a:prstGeom>
        </p:spPr>
      </p:pic>
      <p:sp>
        <p:nvSpPr>
          <p:cNvPr id="29" name="Node label:user"/>
          <p:cNvSpPr txBox="1"/>
          <p:nvPr/>
        </p:nvSpPr>
        <p:spPr>
          <a:xfrm>
            <a:off x="731520" y="4754880"/>
            <a:ext cx="150876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HTTP Client</a:t>
            </a:r>
          </a:p>
        </p:txBody>
      </p:sp>
      <p:pic>
        <p:nvPicPr>
          <p:cNvPr id="30" name="OCI icon:waf" descr="waf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410" y="1956815"/>
            <a:ext cx="318459" cy="566928"/>
          </a:xfrm>
          <a:prstGeom prst="rect">
            <a:avLst/>
          </a:prstGeom>
        </p:spPr>
      </p:pic>
      <p:sp>
        <p:nvSpPr>
          <p:cNvPr id="31" name="Node label:waf"/>
          <p:cNvSpPr txBox="1"/>
          <p:nvPr/>
        </p:nvSpPr>
        <p:spPr>
          <a:xfrm>
            <a:off x="4069080" y="2606039"/>
            <a:ext cx="2103120" cy="320039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Regional WAF Policy</a:t>
            </a:r>
          </a:p>
        </p:txBody>
      </p:sp>
      <p:pic>
        <p:nvPicPr>
          <p:cNvPr id="32" name="OCI icon:lb" descr="load-balancer.offici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9970" y="4151376"/>
            <a:ext cx="318459" cy="566928"/>
          </a:xfrm>
          <a:prstGeom prst="rect">
            <a:avLst/>
          </a:prstGeom>
        </p:spPr>
      </p:pic>
      <p:sp>
        <p:nvSpPr>
          <p:cNvPr id="33" name="Node label:lb"/>
          <p:cNvSpPr txBox="1"/>
          <p:nvPr/>
        </p:nvSpPr>
        <p:spPr>
          <a:xfrm>
            <a:off x="4114800" y="4800600"/>
            <a:ext cx="1828800" cy="411479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HTTP Load Balancer</a:t>
            </a:r>
          </a:p>
        </p:txBody>
      </p:sp>
      <p:pic>
        <p:nvPicPr>
          <p:cNvPr id="34" name="OCI icon:backend" descr="compute.offici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67650" y="4151376"/>
            <a:ext cx="318459" cy="566928"/>
          </a:xfrm>
          <a:prstGeom prst="rect">
            <a:avLst/>
          </a:prstGeom>
        </p:spPr>
      </p:pic>
      <p:sp>
        <p:nvSpPr>
          <p:cNvPr id="35" name="Node label:backend"/>
          <p:cNvSpPr txBox="1"/>
          <p:nvPr/>
        </p:nvSpPr>
        <p:spPr>
          <a:xfrm>
            <a:off x="8412480" y="4800600"/>
            <a:ext cx="1828800" cy="411479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Private Backend</a:t>
            </a:r>
          </a:p>
        </p:txBody>
      </p:sp>
      <p:sp>
        <p:nvSpPr>
          <p:cNvPr id="36" name="Model caveat"/>
          <p:cNvSpPr txBox="1"/>
          <p:nvPr/>
        </p:nvSpPr>
        <p:spPr>
          <a:xfrm>
            <a:off x="640080" y="6016752"/>
            <a:ext cx="10881360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Regional WAF policy is not a subnet VM or an NLB. Ingress routing / IGW omitted from this association view.</a:t>
            </a:r>
          </a:p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Service-family icon meanings and exact official toolkit titles are disclosed in the model JSON.</a:t>
            </a:r>
          </a:p>
        </p:txBody>
      </p:sp>
      <p:sp>
        <p:nvSpPr>
          <p:cNvPr id="37" name="Diagram footer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000" b="0">
                <a:solidFill>
                  <a:srgbClr val="C74634"/>
                </a:solidFill>
                <a:latin typeface="Malgun Gothic"/>
              </a:defRPr>
            </a:pPr>
            <a:r>
              <a:t>AI-assisted illustrative model; verify official docs. No OCI resources created.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Assumptions / scope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Regional WAF policy is not a subnet VM or an NLB. Ingress routing / IGW omitted from this association view.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Service-family icon meanings and exact official toolkit titles are disclosed in the model JSON.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regional WAF는 HTTP LB 연계 관리 서비스; Subnet VM·NLB 아님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실제 OCI 실행·배포 검증은 수행하지 않았다.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이 논리 관계도는 Subnet 배치나 네트워크 route를 증명하지 않는다.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Validation checkpoints / sources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Confirm service-specific semantics; no cloud provisioning.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Verify native PowerPoint, hierarchy, endpoint attachment and icon provenance.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https://docs.oracle.com/en-us/iaas/Content/WAF/Concepts/overview.htm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